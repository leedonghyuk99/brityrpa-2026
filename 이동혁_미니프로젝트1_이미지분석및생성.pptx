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70" r:id="rId7"/>
    <p:sldId id="271" r:id="rId8"/>
    <p:sldId id="273" r:id="rId9"/>
    <p:sldId id="272" r:id="rId10"/>
    <p:sldId id="269" r:id="rId11"/>
    <p:sldId id="27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206E2-44EC-151D-D4A6-262080B61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60667B-FC97-DDE7-0184-8C2CD9E13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AC78FC-E6EF-6E52-54D1-22145F45F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1D78-BE55-484A-B43B-12E41F35F21C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5085A8-1B50-00C1-198C-FF5E7C22A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55E21D-68E9-6E57-7710-2E5381D0B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FC75E-3CF2-441C-AECD-106F73A0B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52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E469C-4D6A-C81D-0B2F-8D135026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45EF2A-F742-D046-86B6-CBE9ABBD8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BEBFE3-FEA6-19E7-A766-F0DFDB5A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1D78-BE55-484A-B43B-12E41F35F21C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267614-9A39-1E39-E78F-C2E525E5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B094EB-20C8-3CA7-96B2-0375EB8A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FC75E-3CF2-441C-AECD-106F73A0B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60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A3AC0-9B8D-D96C-CF8B-CDCF0744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9783F5-C743-5461-0470-0A412AABC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E54727-97AA-340B-BEC5-C41A0F255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1D78-BE55-484A-B43B-12E41F35F21C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589A62-C69A-51EC-D4DE-E8C399B8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11ABE2-78C2-8C18-8CA0-95DAD66DB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FC75E-3CF2-441C-AECD-106F73A0B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226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0208A4-DE8D-C78E-EA8E-9DA232CA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9DEB4E-419F-18D9-8DD8-2684B686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3D2412-2CA8-D656-D886-305F7B6EE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DA36FB-6C7F-33C4-815D-CE146094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1D78-BE55-484A-B43B-12E41F35F21C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B87F8C-7BA5-778D-FF46-DD1D5458B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C87974-5442-9312-7495-F8401891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FC75E-3CF2-441C-AECD-106F73A0B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674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A5006-F97A-4EB4-0B23-D7DE2B4A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5481E2-856A-4917-E576-30AC153BD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D400CE-2C4E-CB4F-FC15-2C5790969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6F38BA-67F8-6463-0E1E-0CA0B4558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AC1429-5A6D-0A20-DFFC-8BEE64777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BAB43C-2D78-B107-8EFF-DD75C0AB7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1D78-BE55-484A-B43B-12E41F35F21C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2D20FA7-BA74-FE26-680B-897B2B8A1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2E052E-AA59-B929-3647-CDF53B81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FC75E-3CF2-441C-AECD-106F73A0B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425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DA88E-5EEB-5FF8-BE9D-06FDDA334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1B53CEE-5114-1084-9F31-677C10B9B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1D78-BE55-484A-B43B-12E41F35F21C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137E6E-B533-2C5D-BAA7-4326533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05B700-73A3-C68C-CD36-A22386DB7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FC75E-3CF2-441C-AECD-106F73A0B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87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B6A9E5-8F62-9DA3-DF2B-24322A48A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1D78-BE55-484A-B43B-12E41F35F21C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0B8D35-0140-A619-066C-6AF63F002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AFBB1-5140-A416-5298-3F42C016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FC75E-3CF2-441C-AECD-106F73A0B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501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537C95-FF44-4A68-BBD3-1724DF9E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50208-DF0A-AB17-D910-402BB1892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0F0DAB-BF27-C29B-610D-58CAC2F5F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9A9345-CB9B-CE8B-38EC-5DD5CCB18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1D78-BE55-484A-B43B-12E41F35F21C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E44ED-2A47-724D-2D3B-01A9DDC39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1075BA-5BFC-C0D4-837F-B91DA6B8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FC75E-3CF2-441C-AECD-106F73A0B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807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4BC99-B621-ACC2-72B6-C03C883EF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4184144-9884-2F09-7D09-3FA4B1CC2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1560C6-CF8B-A1A0-F555-97BDA0A41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515A10-8C7C-4102-22F3-E8FE9467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1D78-BE55-484A-B43B-12E41F35F21C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2C8C37-F998-394D-0C73-9E0579416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03291E-B3BF-C7FA-DF7E-C8549479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FC75E-3CF2-441C-AECD-106F73A0B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516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379A6-81AD-D0B7-3742-2B1982CD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23687E-A374-19AB-4887-2587675EA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B11DA3-49CF-58EB-0BD9-B64F1B04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1D78-BE55-484A-B43B-12E41F35F21C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7DFE5-2DD0-3923-2C2F-A9CF145EB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D4803F-D803-E098-3239-D365F77C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FC75E-3CF2-441C-AECD-106F73A0B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344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84A5C0C-382D-A9CA-EE44-D3BC941BC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E4F22C-79F0-03FE-759B-80EECF646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C2D880-040E-9385-62D8-3D0D638D0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1D78-BE55-484A-B43B-12E41F35F21C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E0ECA1-75B9-E226-E170-22D925B37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069151-4517-9F06-075E-C6916E00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FC75E-3CF2-441C-AECD-106F73A0B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04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62B91A-E931-EFC3-8EF8-8B489532F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F8286-1F7B-1EDD-46A4-C15F40B7C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20CDBB-7A40-4CD0-CC4F-C4748EE37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61D78-BE55-484A-B43B-12E41F35F21C}" type="datetimeFigureOut">
              <a:rPr lang="ko-KR" altLang="en-US" smtClean="0"/>
              <a:t>2026-01-10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86904B-2B88-62E6-BCCF-8E8A11389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22C111-8AD0-359C-4FCC-E46C07675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FC75E-3CF2-441C-AECD-106F73A0B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95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481010-DDDD-61F4-A5C4-C411826DDA37}"/>
              </a:ext>
            </a:extLst>
          </p:cNvPr>
          <p:cNvSpPr txBox="1"/>
          <p:nvPr/>
        </p:nvSpPr>
        <p:spPr>
          <a:xfrm>
            <a:off x="8011487" y="5038237"/>
            <a:ext cx="3129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3">
                    <a:lumMod val="50000"/>
                  </a:schemeClr>
                </a:solidFill>
              </a:rPr>
              <a:t>작성자 </a:t>
            </a:r>
            <a:r>
              <a:rPr lang="en-US" altLang="ko-KR" b="1" dirty="0">
                <a:solidFill>
                  <a:schemeClr val="accent3">
                    <a:lumMod val="50000"/>
                  </a:schemeClr>
                </a:solidFill>
              </a:rPr>
              <a:t>: </a:t>
            </a:r>
            <a:r>
              <a:rPr lang="ko-KR" altLang="en-US" b="1" dirty="0">
                <a:solidFill>
                  <a:schemeClr val="accent3">
                    <a:lumMod val="50000"/>
                  </a:schemeClr>
                </a:solidFill>
              </a:rPr>
              <a:t>이동혁</a:t>
            </a:r>
            <a:endParaRPr lang="en-US" altLang="ko-KR" b="1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ko-KR" altLang="en-US" b="1" dirty="0">
                <a:solidFill>
                  <a:schemeClr val="accent3">
                    <a:lumMod val="50000"/>
                  </a:schemeClr>
                </a:solidFill>
              </a:rPr>
              <a:t>작성 날짜 </a:t>
            </a:r>
            <a:r>
              <a:rPr lang="en-US" altLang="ko-KR" b="1" dirty="0">
                <a:solidFill>
                  <a:schemeClr val="accent3">
                    <a:lumMod val="50000"/>
                  </a:schemeClr>
                </a:solidFill>
              </a:rPr>
              <a:t>: 26.01.07</a:t>
            </a:r>
            <a:endParaRPr lang="ko-KR" altLang="en-US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F333C-33A9-877F-A8A0-C37D51344FA5}"/>
              </a:ext>
            </a:extLst>
          </p:cNvPr>
          <p:cNvSpPr txBox="1"/>
          <p:nvPr/>
        </p:nvSpPr>
        <p:spPr>
          <a:xfrm>
            <a:off x="2231472" y="2381825"/>
            <a:ext cx="67174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b="1" dirty="0">
                <a:solidFill>
                  <a:schemeClr val="accent3">
                    <a:lumMod val="50000"/>
                  </a:schemeClr>
                </a:solidFill>
              </a:rPr>
              <a:t>미니프로젝트</a:t>
            </a:r>
            <a:r>
              <a:rPr lang="en-US" altLang="ko-KR" sz="2600" b="1" dirty="0">
                <a:solidFill>
                  <a:schemeClr val="accent3">
                    <a:lumMod val="50000"/>
                  </a:schemeClr>
                </a:solidFill>
              </a:rPr>
              <a:t>1_</a:t>
            </a:r>
            <a:r>
              <a:rPr lang="ko-KR" altLang="en-US" sz="2600" b="1" dirty="0" err="1">
                <a:solidFill>
                  <a:schemeClr val="accent3">
                    <a:lumMod val="50000"/>
                  </a:schemeClr>
                </a:solidFill>
              </a:rPr>
              <a:t>이미지분석및생성</a:t>
            </a:r>
            <a:endParaRPr lang="ko-KR" altLang="en-US" sz="2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B5B04DA-D376-865F-A2E8-FA42B2EA27CB}"/>
              </a:ext>
            </a:extLst>
          </p:cNvPr>
          <p:cNvCxnSpPr/>
          <p:nvPr/>
        </p:nvCxnSpPr>
        <p:spPr>
          <a:xfrm>
            <a:off x="1719743" y="2994870"/>
            <a:ext cx="81037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840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FEC3C-F006-45EC-43AE-5CF8FBE0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43CEDB-64F3-3D46-4A6E-797FF321FB76}"/>
              </a:ext>
            </a:extLst>
          </p:cNvPr>
          <p:cNvSpPr txBox="1"/>
          <p:nvPr/>
        </p:nvSpPr>
        <p:spPr>
          <a:xfrm>
            <a:off x="788567" y="935599"/>
            <a:ext cx="1024295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주요 요구 사항</a:t>
            </a:r>
            <a:endParaRPr lang="en-US" altLang="ko-KR" sz="20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이미지 분석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요약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:</a:t>
            </a:r>
          </a:p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&gt;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분석하고자 하는 이미지 파일 준비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&gt;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이미지 파일을 업로드하여 데이터 분석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이미지에 대한 설명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/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요약문을 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ChatGPT	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에게 요청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&gt;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분석할 이미지 파일 개수만큼 반복해야 함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이미지 생성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전송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:</a:t>
            </a:r>
          </a:p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&gt;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요청 사항을 업로드하여 이미지 생성</a:t>
            </a:r>
            <a:endParaRPr lang="en-US" altLang="ko-KR" sz="20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&gt;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의도한 바와 다를 시 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1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회 더 시도하여 결과를 다시 받기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.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만일 두 번째 시도도 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의도와는 다를 시 예외 처리할 것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	&gt;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생성된 결과를 기록된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주소를 통해 메일 전송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.</a:t>
            </a:r>
            <a:b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</a:br>
            <a:endParaRPr lang="en-US" altLang="ko-KR" sz="2000" dirty="0">
              <a:solidFill>
                <a:schemeClr val="accent3">
                  <a:lumMod val="50000"/>
                </a:schemeClr>
              </a:solidFill>
            </a:endParaRPr>
          </a:p>
          <a:p>
            <a:pPr marL="914400" lvl="1" indent="-457200">
              <a:buFontTx/>
              <a:buChar char="-"/>
            </a:pP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7D07D45-1173-A9AA-B0F9-FEEF2B9F1C46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71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B488-07A8-A04D-EF76-89645446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6">
            <a:extLst>
              <a:ext uri="{FF2B5EF4-FFF2-40B4-BE49-F238E27FC236}">
                <a16:creationId xmlns:a16="http://schemas.microsoft.com/office/drawing/2014/main" id="{B2325F4D-9ECF-CD03-CD20-6E7FD84FD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195896"/>
              </p:ext>
            </p:extLst>
          </p:nvPr>
        </p:nvGraphicFramePr>
        <p:xfrm>
          <a:off x="578841" y="595618"/>
          <a:ext cx="10989578" cy="568104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448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2495244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429566">
                  <a:extLst>
                    <a:ext uri="{9D8B030D-6E8A-4147-A177-3AD203B41FA5}">
                      <a16:colId xmlns:a16="http://schemas.microsoft.com/office/drawing/2014/main" val="3392394867"/>
                    </a:ext>
                  </a:extLst>
                </a:gridCol>
                <a:gridCol w="2685851">
                  <a:extLst>
                    <a:ext uri="{9D8B030D-6E8A-4147-A177-3AD203B41FA5}">
                      <a16:colId xmlns:a16="http://schemas.microsoft.com/office/drawing/2014/main" val="3628893239"/>
                    </a:ext>
                  </a:extLst>
                </a:gridCol>
                <a:gridCol w="798463">
                  <a:extLst>
                    <a:ext uri="{9D8B030D-6E8A-4147-A177-3AD203B41FA5}">
                      <a16:colId xmlns:a16="http://schemas.microsoft.com/office/drawing/2014/main" val="4202872511"/>
                    </a:ext>
                  </a:extLst>
                </a:gridCol>
                <a:gridCol w="683087">
                  <a:extLst>
                    <a:ext uri="{9D8B030D-6E8A-4147-A177-3AD203B41FA5}">
                      <a16:colId xmlns:a16="http://schemas.microsoft.com/office/drawing/2014/main" val="1833296149"/>
                    </a:ext>
                  </a:extLst>
                </a:gridCol>
                <a:gridCol w="1472884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3190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과제명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이미지분석및생성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과정명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심화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_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</a:rPr>
                        <a:t>LowCode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기반의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융합 스마트관리시스템 개발 심화과정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현업담당자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양우혁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강사님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190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2026.01.07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2026.01.12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사용시스템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Edge, Excel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개발담당자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이동혁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926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업무 요약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GPT API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를 활용한 이미지 분석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이미지 생성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/ SMTP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를 이용한 메일 전송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281679"/>
                  </a:ext>
                </a:extLst>
              </a:tr>
              <a:tr h="319037"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설계 순서도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업무 순서도 및 절차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업무 선순도 및 절차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  <a:tr h="263735">
                <a:tc rowSpan="2" gridSpan="5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완료 후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결과파일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4090371"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en-US" altLang="ko-KR" sz="900" dirty="0"/>
                    </a:p>
                    <a:p>
                      <a:pPr marL="228600" indent="-228600" latinLnBrk="1">
                        <a:buFont typeface="+mj-lt"/>
                        <a:buAutoNum type="arabicParenR"/>
                      </a:pPr>
                      <a:r>
                        <a:rPr lang="ko-KR" altLang="en-US" sz="900" dirty="0"/>
                        <a:t>이미지 분석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이미지 요약 과정은 각각 하나의 </a:t>
                      </a:r>
                      <a:r>
                        <a:rPr lang="en-US" altLang="ko-KR" sz="900" dirty="0"/>
                        <a:t>task </a:t>
                      </a:r>
                      <a:r>
                        <a:rPr lang="ko-KR" altLang="en-US" sz="900" dirty="0"/>
                        <a:t>내에서 </a:t>
                      </a:r>
                      <a:r>
                        <a:rPr lang="en-US" altLang="ko-KR" sz="900" dirty="0"/>
                        <a:t>for</a:t>
                      </a:r>
                      <a:r>
                        <a:rPr lang="ko-KR" altLang="en-US" sz="900" dirty="0"/>
                        <a:t>문을 통해 반복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en-US" altLang="ko-KR" sz="900" dirty="0"/>
                    </a:p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7733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8A5B5F1-80EC-E491-3B2D-B12FC27FFE55}"/>
              </a:ext>
            </a:extLst>
          </p:cNvPr>
          <p:cNvSpPr txBox="1"/>
          <p:nvPr/>
        </p:nvSpPr>
        <p:spPr>
          <a:xfrm>
            <a:off x="587230" y="-145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PDD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순서도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6921B9E-6045-C21F-9EAF-62F985B86A11}"/>
              </a:ext>
            </a:extLst>
          </p:cNvPr>
          <p:cNvCxnSpPr>
            <a:cxnSpLocks/>
            <a:stCxn id="6" idx="6"/>
            <a:endCxn id="7" idx="1"/>
          </p:cNvCxnSpPr>
          <p:nvPr/>
        </p:nvCxnSpPr>
        <p:spPr>
          <a:xfrm>
            <a:off x="1030061" y="2637875"/>
            <a:ext cx="492840" cy="11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표 16">
            <a:extLst>
              <a:ext uri="{FF2B5EF4-FFF2-40B4-BE49-F238E27FC236}">
                <a16:creationId xmlns:a16="http://schemas.microsoft.com/office/drawing/2014/main" id="{38355734-C1C8-CA96-EE57-BE910049D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446234"/>
              </p:ext>
            </p:extLst>
          </p:nvPr>
        </p:nvGraphicFramePr>
        <p:xfrm>
          <a:off x="7688429" y="2141039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이미지 요약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를 활용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엑셀에 있는 이미지 파일 요약 후 엑셀 입력 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ChatGPT, Excel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481CB846-701E-DF86-D42D-6EBB829CF97A}"/>
              </a:ext>
            </a:extLst>
          </p:cNvPr>
          <p:cNvSpPr/>
          <p:nvPr/>
        </p:nvSpPr>
        <p:spPr>
          <a:xfrm>
            <a:off x="644167" y="2461706"/>
            <a:ext cx="385894" cy="3523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시작</a:t>
            </a:r>
            <a:endParaRPr lang="ko-KR" altLang="en-US" sz="2000" dirty="0"/>
          </a:p>
        </p:txBody>
      </p:sp>
      <p:graphicFrame>
        <p:nvGraphicFramePr>
          <p:cNvPr id="7" name="표 16">
            <a:extLst>
              <a:ext uri="{FF2B5EF4-FFF2-40B4-BE49-F238E27FC236}">
                <a16:creationId xmlns:a16="http://schemas.microsoft.com/office/drawing/2014/main" id="{DC543C71-4E60-3917-746C-B7F214242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402479"/>
              </p:ext>
            </p:extLst>
          </p:nvPr>
        </p:nvGraphicFramePr>
        <p:xfrm>
          <a:off x="1522901" y="2134618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폴더 및 파일정리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저장 경로 및 작업 파일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graphicFrame>
        <p:nvGraphicFramePr>
          <p:cNvPr id="8" name="표 16">
            <a:extLst>
              <a:ext uri="{FF2B5EF4-FFF2-40B4-BE49-F238E27FC236}">
                <a16:creationId xmlns:a16="http://schemas.microsoft.com/office/drawing/2014/main" id="{61AD9EA7-8DE6-5858-1AFA-70612A5E1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481021"/>
              </p:ext>
            </p:extLst>
          </p:nvPr>
        </p:nvGraphicFramePr>
        <p:xfrm>
          <a:off x="3623415" y="2121584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엑셀 열기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엑셀 열기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693E3FD-B3C3-F8CE-E8B4-1E92F620B54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2783994" y="2636437"/>
            <a:ext cx="839421" cy="13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E1EAF38-EFB4-0558-A349-6A82EF15BD1C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>
            <a:off x="6985023" y="2649471"/>
            <a:ext cx="703406" cy="6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2BA8953-E285-D932-256C-E3429B782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73165"/>
              </p:ext>
            </p:extLst>
          </p:nvPr>
        </p:nvGraphicFramePr>
        <p:xfrm>
          <a:off x="6021152" y="3799853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엑셀 종료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엑셀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저장 및 종료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sp>
        <p:nvSpPr>
          <p:cNvPr id="12" name="타원 11">
            <a:extLst>
              <a:ext uri="{FF2B5EF4-FFF2-40B4-BE49-F238E27FC236}">
                <a16:creationId xmlns:a16="http://schemas.microsoft.com/office/drawing/2014/main" id="{FBD057D8-E6D4-6244-6560-90A9C570C5F7}"/>
              </a:ext>
            </a:extLst>
          </p:cNvPr>
          <p:cNvSpPr/>
          <p:nvPr/>
        </p:nvSpPr>
        <p:spPr>
          <a:xfrm>
            <a:off x="8094613" y="4138537"/>
            <a:ext cx="385894" cy="3523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종료</a:t>
            </a:r>
            <a:endParaRPr lang="ko-KR" altLang="en-US" sz="20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DBAA02D-3246-BBFC-9AE3-63B6D106CD77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>
            <a:off x="7282245" y="4314706"/>
            <a:ext cx="8123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99A09912-A916-F4F3-0613-40542E6BD512}"/>
              </a:ext>
            </a:extLst>
          </p:cNvPr>
          <p:cNvSpPr/>
          <p:nvPr/>
        </p:nvSpPr>
        <p:spPr>
          <a:xfrm>
            <a:off x="2452784" y="5320587"/>
            <a:ext cx="2259796" cy="57120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지정한 </a:t>
            </a:r>
            <a:r>
              <a:rPr lang="ko-KR" altLang="en-US" sz="900" dirty="0">
                <a:solidFill>
                  <a:schemeClr val="lt1"/>
                </a:solidFill>
              </a:rPr>
              <a:t>모든 메일 발송 완료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E6A49E3-977A-DBA1-1DF0-F9089DDE6D3B}"/>
              </a:ext>
            </a:extLst>
          </p:cNvPr>
          <p:cNvSpPr/>
          <p:nvPr/>
        </p:nvSpPr>
        <p:spPr>
          <a:xfrm>
            <a:off x="1854033" y="5478252"/>
            <a:ext cx="253096" cy="255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</a:t>
            </a:r>
            <a:endParaRPr lang="ko-KR" altLang="en-US" sz="120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54A323E-8E13-AEA3-2624-923EEA925598}"/>
              </a:ext>
            </a:extLst>
          </p:cNvPr>
          <p:cNvSpPr/>
          <p:nvPr/>
        </p:nvSpPr>
        <p:spPr>
          <a:xfrm>
            <a:off x="5166981" y="5468097"/>
            <a:ext cx="245378" cy="255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Y</a:t>
            </a:r>
            <a:endParaRPr lang="ko-KR" altLang="en-US" sz="1400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9D8E97A-352D-E7E8-5B7F-3BF77A0CB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993535"/>
              </p:ext>
            </p:extLst>
          </p:nvPr>
        </p:nvGraphicFramePr>
        <p:xfrm>
          <a:off x="1355107" y="3799853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이미지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를 활용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엑셀에 지시된 이미지 생성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ChatGPT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9DC02A4-5FB2-8B6A-C060-D8B26B67AEE1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2616200" y="4314706"/>
            <a:ext cx="335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표 16">
            <a:extLst>
              <a:ext uri="{FF2B5EF4-FFF2-40B4-BE49-F238E27FC236}">
                <a16:creationId xmlns:a16="http://schemas.microsoft.com/office/drawing/2014/main" id="{E4548809-4BC4-1595-D9E5-B65F18592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454807"/>
              </p:ext>
            </p:extLst>
          </p:nvPr>
        </p:nvGraphicFramePr>
        <p:xfrm>
          <a:off x="2952136" y="3799853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이메일 전송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생성된 이미지를 첨부하여 이메일 발송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SMTP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5580F878-E432-DA54-4C49-87135BE2968B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 rot="5400000">
            <a:off x="4837760" y="318638"/>
            <a:ext cx="629108" cy="63333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F3F8BAFC-9494-4F8F-28B7-A2502839FFEA}"/>
              </a:ext>
            </a:extLst>
          </p:cNvPr>
          <p:cNvCxnSpPr>
            <a:cxnSpLocks/>
            <a:stCxn id="16" idx="6"/>
            <a:endCxn id="11" idx="1"/>
          </p:cNvCxnSpPr>
          <p:nvPr/>
        </p:nvCxnSpPr>
        <p:spPr>
          <a:xfrm flipV="1">
            <a:off x="5412359" y="4314706"/>
            <a:ext cx="608793" cy="12813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66FF404-CA7E-BC5D-22A0-8AD307CBA062}"/>
              </a:ext>
            </a:extLst>
          </p:cNvPr>
          <p:cNvCxnSpPr>
            <a:cxnSpLocks/>
            <a:stCxn id="14" idx="1"/>
            <a:endCxn id="15" idx="6"/>
          </p:cNvCxnSpPr>
          <p:nvPr/>
        </p:nvCxnSpPr>
        <p:spPr>
          <a:xfrm flipH="1">
            <a:off x="2107129" y="5606188"/>
            <a:ext cx="3456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486E8FC-4095-4ABD-3F6D-AA3ABB4C5654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>
            <a:off x="3582682" y="4829559"/>
            <a:ext cx="0" cy="491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B7709F3-3A7B-E50A-5379-C2B0657D2737}"/>
              </a:ext>
            </a:extLst>
          </p:cNvPr>
          <p:cNvCxnSpPr>
            <a:cxnSpLocks/>
            <a:stCxn id="15" idx="0"/>
            <a:endCxn id="17" idx="2"/>
          </p:cNvCxnSpPr>
          <p:nvPr/>
        </p:nvCxnSpPr>
        <p:spPr>
          <a:xfrm flipV="1">
            <a:off x="1980581" y="4829559"/>
            <a:ext cx="5072" cy="648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60F1E66-CBCA-CAC4-7846-1D99D1184CBB}"/>
              </a:ext>
            </a:extLst>
          </p:cNvPr>
          <p:cNvCxnSpPr>
            <a:cxnSpLocks/>
            <a:stCxn id="14" idx="3"/>
            <a:endCxn id="16" idx="2"/>
          </p:cNvCxnSpPr>
          <p:nvPr/>
        </p:nvCxnSpPr>
        <p:spPr>
          <a:xfrm flipV="1">
            <a:off x="4712580" y="5596033"/>
            <a:ext cx="454401" cy="10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표 16">
            <a:extLst>
              <a:ext uri="{FF2B5EF4-FFF2-40B4-BE49-F238E27FC236}">
                <a16:creationId xmlns:a16="http://schemas.microsoft.com/office/drawing/2014/main" id="{0250F8EB-20B8-E36E-4935-7AC6C8E1D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869383"/>
              </p:ext>
            </p:extLst>
          </p:nvPr>
        </p:nvGraphicFramePr>
        <p:xfrm>
          <a:off x="5723930" y="2134618"/>
          <a:ext cx="1261093" cy="10297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1093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</a:tblGrid>
              <a:tr h="2011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이미지 분석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5674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를 활용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엑셀에 있는 이미지 파일 분석 후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엑셀 입력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3055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ChatGPT, Excel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84631"/>
                  </a:ext>
                </a:extLst>
              </a:tr>
            </a:tbl>
          </a:graphicData>
        </a:graphic>
      </p:graphicFrame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960E050-CAC6-25F7-D961-E7FEFEAD5051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4884508" y="2636437"/>
            <a:ext cx="839422" cy="13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2E7B320-7AA9-E1C7-3F08-8BE957A393F1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16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1C7DE-43C6-6BEE-E3C6-B8A927F0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C0B45A-307D-74FA-4574-750B4761F3C0}"/>
              </a:ext>
            </a:extLst>
          </p:cNvPr>
          <p:cNvSpPr txBox="1"/>
          <p:nvPr/>
        </p:nvSpPr>
        <p:spPr>
          <a:xfrm>
            <a:off x="587230" y="-145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PDD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순서도 세부 사항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155153A-75AA-CF75-C337-858C5EE15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341492"/>
              </p:ext>
            </p:extLst>
          </p:nvPr>
        </p:nvGraphicFramePr>
        <p:xfrm>
          <a:off x="655098" y="650791"/>
          <a:ext cx="10740499" cy="3794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738">
                  <a:extLst>
                    <a:ext uri="{9D8B030D-6E8A-4147-A177-3AD203B41FA5}">
                      <a16:colId xmlns:a16="http://schemas.microsoft.com/office/drawing/2014/main" val="2949329046"/>
                    </a:ext>
                  </a:extLst>
                </a:gridCol>
                <a:gridCol w="1958737">
                  <a:extLst>
                    <a:ext uri="{9D8B030D-6E8A-4147-A177-3AD203B41FA5}">
                      <a16:colId xmlns:a16="http://schemas.microsoft.com/office/drawing/2014/main" val="4175160694"/>
                    </a:ext>
                  </a:extLst>
                </a:gridCol>
                <a:gridCol w="7092779">
                  <a:extLst>
                    <a:ext uri="{9D8B030D-6E8A-4147-A177-3AD203B41FA5}">
                      <a16:colId xmlns:a16="http://schemas.microsoft.com/office/drawing/2014/main" val="1017136227"/>
                    </a:ext>
                  </a:extLst>
                </a:gridCol>
                <a:gridCol w="1304245">
                  <a:extLst>
                    <a:ext uri="{9D8B030D-6E8A-4147-A177-3AD203B41FA5}">
                      <a16:colId xmlns:a16="http://schemas.microsoft.com/office/drawing/2014/main" val="845590638"/>
                    </a:ext>
                  </a:extLst>
                </a:gridCol>
              </a:tblGrid>
              <a:tr h="447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Activity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세부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시스템</a:t>
                      </a:r>
                    </a:p>
                  </a:txBody>
                  <a:tcPr marL="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059156"/>
                  </a:ext>
                </a:extLst>
              </a:tr>
              <a:tr h="1317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폴더 및 파일 정리</a:t>
                      </a:r>
                      <a:endParaRPr lang="en-US" altLang="ko-KR" sz="10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저장 경로 및 작업 파일 생성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391235"/>
                  </a:ext>
                </a:extLst>
              </a:tr>
              <a:tr h="276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엑셀 열기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Temp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파일 내 템플릿 엑셀파일 열기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Excel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846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분석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명시된 이미지를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API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이용하여 분석 후 해당 내용 엑셀에 입력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ChatGPT, Excel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12166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이미지 요약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명시된 이미지를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API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이용하여 요약 후 해당 내용 엑셀에 입력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ChatGPT, Excel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904320"/>
                  </a:ext>
                </a:extLst>
              </a:tr>
              <a:tr h="276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이미지 생성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Excel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명시된 지시문을 이용해 이미지 생성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ChatGPT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4368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이메일 전송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명시된 주소로 이미지를 첨부한 이메일 발송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Edge, SMTP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70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조건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모든 이메일 전송 여부</a:t>
                      </a: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지정된 이미지를 모두 메일로 전송할 때까지 과정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돌아가 반복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646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엑셀 정리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Excel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 저장 후 종료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Excel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7686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1770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993864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baseline="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330508"/>
                  </a:ext>
                </a:extLst>
              </a:tr>
              <a:tr h="25111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**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엑셀파일 저장 경로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C:\RPA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\(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프로젝트명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)\output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</a:pP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494915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E30EAD8-0C40-6478-ECE3-38BE47A2957D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534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35251-C6CA-079B-4C9C-EF041D383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D4DBDE-08C8-8E8B-CBD5-FA5B71701398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3" name="표 16">
            <a:extLst>
              <a:ext uri="{FF2B5EF4-FFF2-40B4-BE49-F238E27FC236}">
                <a16:creationId xmlns:a16="http://schemas.microsoft.com/office/drawing/2014/main" id="{E8838FAD-9D2F-8093-3CD9-4DDB6AB94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497254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폴더 및 파일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Input.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Output, Temp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폴더 및 양식 파일 형성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형성된 파일 및 폴더 </a:t>
                      </a:r>
                      <a:r>
                        <a:rPr lang="en-US" altLang="ko-KR" sz="900" dirty="0"/>
                        <a:t>Global </a:t>
                      </a:r>
                      <a:r>
                        <a:rPr lang="ko-KR" altLang="en-US" sz="900" dirty="0"/>
                        <a:t>변수로 설정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ADC6761D-5512-B628-1670-A200BA64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AD6DB02-5829-990E-E88A-B71477C34A9B}"/>
              </a:ext>
            </a:extLst>
          </p:cNvPr>
          <p:cNvGrpSpPr/>
          <p:nvPr/>
        </p:nvGrpSpPr>
        <p:grpSpPr>
          <a:xfrm>
            <a:off x="1312424" y="1373224"/>
            <a:ext cx="248494" cy="276999"/>
            <a:chOff x="1061507" y="1889230"/>
            <a:chExt cx="248494" cy="276999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1D6C94A-E70B-D234-35DC-B154719ECA81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777FBE-2BC9-57CE-36A9-418027BD74C4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B8E608C-CAA7-64B1-2435-2D00EDBC9A6C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74AE55-72FD-C155-722D-1E602FDC9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01" y="1692573"/>
            <a:ext cx="5943600" cy="235267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D1D887D-B93E-0DA6-D8D8-5228971ACA2E}"/>
              </a:ext>
            </a:extLst>
          </p:cNvPr>
          <p:cNvSpPr/>
          <p:nvPr/>
        </p:nvSpPr>
        <p:spPr>
          <a:xfrm>
            <a:off x="1560918" y="1707965"/>
            <a:ext cx="5047271" cy="23372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3152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71DC-AF3C-0556-D559-2D695592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92683E-55D1-FAEB-DFC5-C834302FA93D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9" name="표 16">
            <a:extLst>
              <a:ext uri="{FF2B5EF4-FFF2-40B4-BE49-F238E27FC236}">
                <a16:creationId xmlns:a16="http://schemas.microsoft.com/office/drawing/2014/main" id="{A4A7CACB-A8E2-44C7-5917-4D399E73F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586039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엑셀 열기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지정된 엑셀 열기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경로는 </a:t>
                      </a:r>
                      <a:r>
                        <a:rPr lang="en-US" altLang="ko-KR" sz="900" dirty="0"/>
                        <a:t>global </a:t>
                      </a:r>
                      <a:r>
                        <a:rPr lang="ko-KR" altLang="en-US" sz="900" dirty="0"/>
                        <a:t>변수 참조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1BC6D0-54B4-C091-7FD1-D0AA9AF0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pic>
        <p:nvPicPr>
          <p:cNvPr id="4" name="그림 3" descr="텍스트, 스크린샷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1B5BEE-580A-4BEE-D40B-95C9936C3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161" y="1156684"/>
            <a:ext cx="4019550" cy="142875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69EA73-831E-988D-7F29-FC9C6209A81D}"/>
              </a:ext>
            </a:extLst>
          </p:cNvPr>
          <p:cNvSpPr/>
          <p:nvPr/>
        </p:nvSpPr>
        <p:spPr>
          <a:xfrm>
            <a:off x="2163072" y="1345739"/>
            <a:ext cx="1965868" cy="8978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16ED2A3-748A-F553-9072-BDC696576CCA}"/>
              </a:ext>
            </a:extLst>
          </p:cNvPr>
          <p:cNvGrpSpPr/>
          <p:nvPr/>
        </p:nvGrpSpPr>
        <p:grpSpPr>
          <a:xfrm>
            <a:off x="1914578" y="1032298"/>
            <a:ext cx="248494" cy="276999"/>
            <a:chOff x="1061507" y="1889230"/>
            <a:chExt cx="248494" cy="27699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37A8F21D-7A86-C490-3F6C-36EC21B71930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E8344E-9ABA-C662-13FF-0C1C792622A2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EAFD9E4-8FC8-FDCF-C341-E89BC4AAEC3A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79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71DC-AF3C-0556-D559-2D695592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92683E-55D1-FAEB-DFC5-C834302FA93D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9" name="표 16">
            <a:extLst>
              <a:ext uri="{FF2B5EF4-FFF2-40B4-BE49-F238E27FC236}">
                <a16:creationId xmlns:a16="http://schemas.microsoft.com/office/drawing/2014/main" id="{A4A7CACB-A8E2-44C7-5917-4D399E73F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170273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 분석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사용할 배열 초기화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엑셀에서 이미지 주소를 읽어와 </a:t>
                      </a: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this.image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에 배정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Body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 설정 후 해당 변수 이용하여 이미지 분석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분석 성공 시 답변 정제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실패 시 실패 메시지 입력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정제된 답변 입력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dirty="0" err="1"/>
                        <a:t>Badrequest</a:t>
                      </a:r>
                      <a:r>
                        <a:rPr lang="ko-KR" altLang="en-US" sz="900" dirty="0"/>
                        <a:t>가 자주 발생하여 다중 </a:t>
                      </a:r>
                      <a:r>
                        <a:rPr lang="en-US" altLang="ko-KR" sz="900" dirty="0" err="1"/>
                        <a:t>ifelse</a:t>
                      </a:r>
                      <a:r>
                        <a:rPr lang="ko-KR" altLang="en-US" sz="900" dirty="0"/>
                        <a:t>문을 활용하여 최대 </a:t>
                      </a:r>
                      <a:r>
                        <a:rPr lang="en-US" altLang="ko-KR" sz="900" dirty="0"/>
                        <a:t>3</a:t>
                      </a:r>
                      <a:r>
                        <a:rPr lang="ko-KR" altLang="en-US" sz="900" dirty="0"/>
                        <a:t>회까지 </a:t>
                      </a:r>
                      <a:r>
                        <a:rPr lang="en-US" altLang="ko-KR" sz="900" dirty="0"/>
                        <a:t>Request</a:t>
                      </a:r>
                      <a:r>
                        <a:rPr lang="ko-KR" altLang="en-US" sz="900" dirty="0"/>
                        <a:t>를 시도할 수 있게 함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dirty="0"/>
                        <a:t>2~5</a:t>
                      </a:r>
                      <a:r>
                        <a:rPr lang="ko-KR" altLang="en-US" sz="900" dirty="0"/>
                        <a:t>의 과정을 지정한 횟수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이미지 요청 목록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만큼 반복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1BC6D0-54B4-C091-7FD1-D0AA9AF0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  <p:pic>
        <p:nvPicPr>
          <p:cNvPr id="4" name="그림 3" descr="스크린샷, 도표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4BCC0B-F4E6-AB38-0DD6-E8A07FFA9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238" y="3124178"/>
            <a:ext cx="7486012" cy="1544339"/>
          </a:xfrm>
          <a:prstGeom prst="rect">
            <a:avLst/>
          </a:prstGeom>
        </p:spPr>
      </p:pic>
      <p:pic>
        <p:nvPicPr>
          <p:cNvPr id="7" name="그림 6" descr="라인, 도표, 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B00A55-7B6A-5891-3632-CA5282CB0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89" y="1296262"/>
            <a:ext cx="7782711" cy="127913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7F989AB-C1CF-6DC3-13CD-E7A6AB716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975" y="5128563"/>
            <a:ext cx="5257800" cy="285750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1D11D49-0C8E-DF13-6990-C0D654B68CF2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69EA73-831E-988D-7F29-FC9C6209A81D}"/>
              </a:ext>
            </a:extLst>
          </p:cNvPr>
          <p:cNvSpPr/>
          <p:nvPr/>
        </p:nvSpPr>
        <p:spPr>
          <a:xfrm>
            <a:off x="1560918" y="1632587"/>
            <a:ext cx="1144575" cy="5450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16ED2A3-748A-F553-9072-BDC696576CCA}"/>
              </a:ext>
            </a:extLst>
          </p:cNvPr>
          <p:cNvGrpSpPr/>
          <p:nvPr/>
        </p:nvGrpSpPr>
        <p:grpSpPr>
          <a:xfrm>
            <a:off x="1312424" y="1325925"/>
            <a:ext cx="248494" cy="276999"/>
            <a:chOff x="1061507" y="1889230"/>
            <a:chExt cx="248494" cy="27699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37A8F21D-7A86-C490-3F6C-36EC21B71930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E8344E-9ABA-C662-13FF-0C1C792622A2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6053659-951E-1C44-5749-F7F4EBF9A28F}"/>
              </a:ext>
            </a:extLst>
          </p:cNvPr>
          <p:cNvGrpSpPr/>
          <p:nvPr/>
        </p:nvGrpSpPr>
        <p:grpSpPr>
          <a:xfrm>
            <a:off x="3227636" y="1325925"/>
            <a:ext cx="248494" cy="276999"/>
            <a:chOff x="1061507" y="1889230"/>
            <a:chExt cx="248494" cy="276999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9D313C0-AAB3-7028-9118-7B6DC6F9A1BE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EF7A59-5309-F8B5-E43D-783DC88A531D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EF2174-DB3C-DED9-88A3-38D9D3D65B32}"/>
              </a:ext>
            </a:extLst>
          </p:cNvPr>
          <p:cNvSpPr/>
          <p:nvPr/>
        </p:nvSpPr>
        <p:spPr>
          <a:xfrm>
            <a:off x="6031200" y="1617755"/>
            <a:ext cx="2431050" cy="5746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754EAA-C0F4-78C9-6A12-5933B59DB1E5}"/>
              </a:ext>
            </a:extLst>
          </p:cNvPr>
          <p:cNvSpPr/>
          <p:nvPr/>
        </p:nvSpPr>
        <p:spPr>
          <a:xfrm>
            <a:off x="3355942" y="1602924"/>
            <a:ext cx="2479250" cy="5746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CCB5206-7E3D-F220-4A7E-934315108A72}"/>
              </a:ext>
            </a:extLst>
          </p:cNvPr>
          <p:cNvGrpSpPr/>
          <p:nvPr/>
        </p:nvGrpSpPr>
        <p:grpSpPr>
          <a:xfrm>
            <a:off x="5835192" y="1310533"/>
            <a:ext cx="248494" cy="276999"/>
            <a:chOff x="1061507" y="1889230"/>
            <a:chExt cx="248494" cy="276999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86AA5DCD-50F1-6469-6BE9-DCBBC51966EB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E2C3861-37DB-6E30-A703-16068E0548F1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3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E12DD9-FE7D-E374-456B-EC06833CF6F0}"/>
              </a:ext>
            </a:extLst>
          </p:cNvPr>
          <p:cNvSpPr/>
          <p:nvPr/>
        </p:nvSpPr>
        <p:spPr>
          <a:xfrm>
            <a:off x="5024488" y="3284433"/>
            <a:ext cx="1838226" cy="10983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7804858-0989-AD02-734E-1F04063D7C59}"/>
              </a:ext>
            </a:extLst>
          </p:cNvPr>
          <p:cNvGrpSpPr/>
          <p:nvPr/>
        </p:nvGrpSpPr>
        <p:grpSpPr>
          <a:xfrm>
            <a:off x="4759210" y="3007127"/>
            <a:ext cx="248494" cy="276999"/>
            <a:chOff x="1061507" y="1889230"/>
            <a:chExt cx="248494" cy="276999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F684FE7B-FB17-95B8-3B74-88B7C41D2018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6F5FC9-EE09-6C36-3C22-BE035959BDF0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4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9ABDBAA-98DB-6391-0CFD-751ED5EE8529}"/>
              </a:ext>
            </a:extLst>
          </p:cNvPr>
          <p:cNvGrpSpPr/>
          <p:nvPr/>
        </p:nvGrpSpPr>
        <p:grpSpPr>
          <a:xfrm>
            <a:off x="6998231" y="3235169"/>
            <a:ext cx="248494" cy="276999"/>
            <a:chOff x="1061507" y="1889230"/>
            <a:chExt cx="248494" cy="276999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7B2C5FDC-FEF4-2AAE-5FF0-C1A0E875CF17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696F11F-161D-8A81-EBB4-64CE38DF8FB9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5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D84291E-724D-B050-E99C-BDD385321AE7}"/>
              </a:ext>
            </a:extLst>
          </p:cNvPr>
          <p:cNvSpPr/>
          <p:nvPr/>
        </p:nvSpPr>
        <p:spPr>
          <a:xfrm>
            <a:off x="6998230" y="3561125"/>
            <a:ext cx="948565" cy="4844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48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4FA35-254A-DC22-BF9F-C485A308D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E7C804-F337-65DE-7857-274CC3597F78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9" name="표 16">
            <a:extLst>
              <a:ext uri="{FF2B5EF4-FFF2-40B4-BE49-F238E27FC236}">
                <a16:creationId xmlns:a16="http://schemas.microsoft.com/office/drawing/2014/main" id="{024C3810-D7F5-37E2-5958-E6D15480F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885601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 요약</a:t>
                      </a:r>
                      <a:endParaRPr lang="en-US" altLang="ko-K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사용할 배열 초기화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엑셀에서 이미지 주소를 읽어와 </a:t>
                      </a: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this.image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에 배정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Body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 설정 후 해당 변수 이용하여 이미지 요약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분석 성공 시 답변 정제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실패 시 실패 메시지 입력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정제된 답변 입력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dirty="0" err="1"/>
                        <a:t>Badrequest</a:t>
                      </a:r>
                      <a:r>
                        <a:rPr lang="ko-KR" altLang="en-US" sz="900" dirty="0"/>
                        <a:t>가 자주 발생하여 다중 </a:t>
                      </a:r>
                      <a:r>
                        <a:rPr lang="en-US" altLang="ko-KR" sz="900" dirty="0" err="1"/>
                        <a:t>ifelse</a:t>
                      </a:r>
                      <a:r>
                        <a:rPr lang="ko-KR" altLang="en-US" sz="900" dirty="0"/>
                        <a:t>문을 활용하여 최대 </a:t>
                      </a:r>
                      <a:r>
                        <a:rPr lang="en-US" altLang="ko-KR" sz="900" dirty="0"/>
                        <a:t>3</a:t>
                      </a:r>
                      <a:r>
                        <a:rPr lang="ko-KR" altLang="en-US" sz="900" dirty="0"/>
                        <a:t>회까지 </a:t>
                      </a:r>
                      <a:r>
                        <a:rPr lang="en-US" altLang="ko-KR" sz="900" dirty="0"/>
                        <a:t>Request</a:t>
                      </a:r>
                      <a:r>
                        <a:rPr lang="ko-KR" altLang="en-US" sz="900" dirty="0"/>
                        <a:t>를 시도할 수 있게 함</a:t>
                      </a:r>
                      <a:r>
                        <a:rPr lang="en-US" altLang="ko-KR" sz="900" dirty="0"/>
                        <a:t>.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dirty="0"/>
                        <a:t>2~5</a:t>
                      </a:r>
                      <a:r>
                        <a:rPr lang="ko-KR" altLang="en-US" sz="900" dirty="0"/>
                        <a:t>의 과정을 지정한 횟수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이미지 요청 목록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만큼 반복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BF352E2-E0CA-745E-B46F-4E3B5D6FE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8</a:t>
            </a:fld>
            <a:endParaRPr lang="ko-KR" altLang="en-US" noProof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E34F498-85CC-4E2B-0EB5-F2D2EE862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75" y="5128563"/>
            <a:ext cx="5257800" cy="2857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6E63994-BDFA-47F5-CE84-0EC44B4DE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51" y="1741530"/>
            <a:ext cx="7596796" cy="926256"/>
          </a:xfrm>
          <a:prstGeom prst="rect">
            <a:avLst/>
          </a:prstGeom>
        </p:spPr>
      </p:pic>
      <p:pic>
        <p:nvPicPr>
          <p:cNvPr id="15" name="그림 14" descr="스크린샷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EC30D6-F1A8-D7A1-7AA3-88AF38987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51" y="3452605"/>
            <a:ext cx="7596796" cy="1373219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7A53F10-CB86-33DA-A2B7-0CEA8DA4B0CB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26FC5E-BF41-1F46-48D0-E50A7A947C3C}"/>
              </a:ext>
            </a:extLst>
          </p:cNvPr>
          <p:cNvSpPr/>
          <p:nvPr/>
        </p:nvSpPr>
        <p:spPr>
          <a:xfrm>
            <a:off x="1596462" y="1900884"/>
            <a:ext cx="1144575" cy="5450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CD02A35-C31A-5EA8-ACBE-6E64780BDEE6}"/>
              </a:ext>
            </a:extLst>
          </p:cNvPr>
          <p:cNvGrpSpPr/>
          <p:nvPr/>
        </p:nvGrpSpPr>
        <p:grpSpPr>
          <a:xfrm>
            <a:off x="1347968" y="1596392"/>
            <a:ext cx="248494" cy="276999"/>
            <a:chOff x="1061507" y="1889230"/>
            <a:chExt cx="248494" cy="276999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91F28DD3-2357-B633-8B37-52397F32B509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FAF439-4C59-5ECC-AF39-AF62D2DE118F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2034F24-EEBA-86C6-BA80-0483B411FBA7}"/>
              </a:ext>
            </a:extLst>
          </p:cNvPr>
          <p:cNvGrpSpPr/>
          <p:nvPr/>
        </p:nvGrpSpPr>
        <p:grpSpPr>
          <a:xfrm>
            <a:off x="3143195" y="1572140"/>
            <a:ext cx="248494" cy="276999"/>
            <a:chOff x="1061507" y="1889230"/>
            <a:chExt cx="248494" cy="276999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D760E346-B4F2-819A-0504-8F73683BB8CE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C06AC5-86F8-6340-291D-F00E8F2E245E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BAABE5B-B325-3A4B-E1AE-502A7A9537E1}"/>
              </a:ext>
            </a:extLst>
          </p:cNvPr>
          <p:cNvSpPr/>
          <p:nvPr/>
        </p:nvSpPr>
        <p:spPr>
          <a:xfrm>
            <a:off x="5920998" y="1900884"/>
            <a:ext cx="2431050" cy="5746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018113F-45EF-F1E6-59A7-BE7278A7B537}"/>
              </a:ext>
            </a:extLst>
          </p:cNvPr>
          <p:cNvSpPr/>
          <p:nvPr/>
        </p:nvSpPr>
        <p:spPr>
          <a:xfrm>
            <a:off x="3391689" y="1923309"/>
            <a:ext cx="2431051" cy="5450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B16294B-2412-4309-A6AC-2E8F087E7062}"/>
              </a:ext>
            </a:extLst>
          </p:cNvPr>
          <p:cNvGrpSpPr/>
          <p:nvPr/>
        </p:nvGrpSpPr>
        <p:grpSpPr>
          <a:xfrm>
            <a:off x="5745509" y="1623885"/>
            <a:ext cx="248494" cy="276999"/>
            <a:chOff x="1061507" y="1889230"/>
            <a:chExt cx="248494" cy="276999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5D2F312-5DEA-64A7-0ABD-2D46EC97AB10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349C034-6574-509D-92C2-BE2BDFCA21EC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3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A8826A-3228-092A-4F4C-352A6314E13B}"/>
              </a:ext>
            </a:extLst>
          </p:cNvPr>
          <p:cNvSpPr/>
          <p:nvPr/>
        </p:nvSpPr>
        <p:spPr>
          <a:xfrm>
            <a:off x="5031934" y="3452605"/>
            <a:ext cx="1838226" cy="10983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EAE9556-5F78-4097-CC95-986684C6BF9D}"/>
              </a:ext>
            </a:extLst>
          </p:cNvPr>
          <p:cNvGrpSpPr/>
          <p:nvPr/>
        </p:nvGrpSpPr>
        <p:grpSpPr>
          <a:xfrm>
            <a:off x="4783440" y="3177720"/>
            <a:ext cx="248494" cy="276999"/>
            <a:chOff x="1061507" y="1889230"/>
            <a:chExt cx="248494" cy="276999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8A6FCC8-E109-D400-C8E4-86B0E70D3156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121E49-BCD6-5354-C40C-00DD57DFBAB4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4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0C25356-3CE9-BD81-079D-AFC225FF6C7C}"/>
              </a:ext>
            </a:extLst>
          </p:cNvPr>
          <p:cNvGrpSpPr/>
          <p:nvPr/>
        </p:nvGrpSpPr>
        <p:grpSpPr>
          <a:xfrm>
            <a:off x="6998231" y="3235169"/>
            <a:ext cx="248494" cy="276999"/>
            <a:chOff x="1061507" y="1889230"/>
            <a:chExt cx="248494" cy="27699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D3D8B4D5-6F54-555A-8FE5-21212FF7B6EF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84F68A1-6D48-AE3E-C411-BB9797BE3808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5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77DEAC0-CE7D-B90C-F2E5-35C8203E4E9C}"/>
              </a:ext>
            </a:extLst>
          </p:cNvPr>
          <p:cNvSpPr/>
          <p:nvPr/>
        </p:nvSpPr>
        <p:spPr>
          <a:xfrm>
            <a:off x="6998231" y="3797167"/>
            <a:ext cx="948565" cy="4844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423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71DC-AF3C-0556-D559-2D695592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92683E-55D1-FAEB-DFC5-C834302FA93D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9" name="표 16">
            <a:extLst>
              <a:ext uri="{FF2B5EF4-FFF2-40B4-BE49-F238E27FC236}">
                <a16:creationId xmlns:a16="http://schemas.microsoft.com/office/drawing/2014/main" id="{A4A7CACB-A8E2-44C7-5917-4D399E73F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814166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프로젝트 시행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엑셀 시트 전환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프로젝트 시행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반복문의 </a:t>
                      </a:r>
                      <a:r>
                        <a:rPr lang="en-US" altLang="ko-KR" sz="900" b="0" baseline="0" dirty="0" err="1">
                          <a:solidFill>
                            <a:schemeClr val="tx1"/>
                          </a:solidFill>
                        </a:rPr>
                        <a:t>this.i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 input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에러변수 정의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엑셀 지시사항 입력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이미지 생성 요청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이미지 생성 요청 실패 시 에러변수에 값 할당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Edge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로 생성 이미지 출력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 저장 후 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Edge 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종료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이미지 생성 </a:t>
                      </a:r>
                      <a:r>
                        <a:rPr lang="ko-KR" altLang="en-US" sz="900" dirty="0" err="1"/>
                        <a:t>실패시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회 재시도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1BC6D0-54B4-C091-7FD1-D0AA9AF0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9</a:t>
            </a:fld>
            <a:endParaRPr lang="ko-KR" altLang="en-US" noProof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16ED2A3-748A-F553-9072-BDC696576CCA}"/>
              </a:ext>
            </a:extLst>
          </p:cNvPr>
          <p:cNvGrpSpPr/>
          <p:nvPr/>
        </p:nvGrpSpPr>
        <p:grpSpPr>
          <a:xfrm>
            <a:off x="5957772" y="970306"/>
            <a:ext cx="248494" cy="276999"/>
            <a:chOff x="1061507" y="1889230"/>
            <a:chExt cx="248494" cy="276999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37A8F21D-7A86-C490-3F6C-36EC21B71930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E8344E-9ABA-C662-13FF-0C1C792622A2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4" name="그림 3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D8DB58-7FF0-1414-B442-5AA9D5F93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84" y="1804644"/>
            <a:ext cx="5390316" cy="1073824"/>
          </a:xfrm>
          <a:prstGeom prst="rect">
            <a:avLst/>
          </a:prstGeom>
        </p:spPr>
      </p:pic>
      <p:pic>
        <p:nvPicPr>
          <p:cNvPr id="7" name="그림 6" descr="도표, 텍스트, 평면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DC803D-40A8-75F9-F003-4C8805F72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910" y="3031330"/>
            <a:ext cx="6822727" cy="3033936"/>
          </a:xfrm>
          <a:prstGeom prst="rect">
            <a:avLst/>
          </a:prstGeom>
        </p:spPr>
      </p:pic>
      <p:pic>
        <p:nvPicPr>
          <p:cNvPr id="14" name="그림 13" descr="텍스트, 폰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5E6371-372A-B533-F88F-8A9625808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560" y="1968135"/>
            <a:ext cx="1659078" cy="91056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69EA73-831E-988D-7F29-FC9C6209A81D}"/>
              </a:ext>
            </a:extLst>
          </p:cNvPr>
          <p:cNvSpPr/>
          <p:nvPr/>
        </p:nvSpPr>
        <p:spPr>
          <a:xfrm>
            <a:off x="6392762" y="2062737"/>
            <a:ext cx="1496673" cy="6966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6" name="그림 15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8EA348-F554-666B-3595-FB91A748A6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135" y="1089069"/>
            <a:ext cx="1554490" cy="84928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3FB735-B002-C817-3BDE-820D431041A7}"/>
              </a:ext>
            </a:extLst>
          </p:cNvPr>
          <p:cNvSpPr/>
          <p:nvPr/>
        </p:nvSpPr>
        <p:spPr>
          <a:xfrm>
            <a:off x="6400919" y="1112637"/>
            <a:ext cx="1496673" cy="6966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343A6A8-273D-CCFB-7C7C-129B61E0A58A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CA6B9E-530B-0B17-8704-F59A6603FF4F}"/>
              </a:ext>
            </a:extLst>
          </p:cNvPr>
          <p:cNvSpPr/>
          <p:nvPr/>
        </p:nvSpPr>
        <p:spPr>
          <a:xfrm>
            <a:off x="2452811" y="3122941"/>
            <a:ext cx="3250406" cy="11191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18DF1B-F601-AE59-2D3F-FFDC14662C80}"/>
              </a:ext>
            </a:extLst>
          </p:cNvPr>
          <p:cNvSpPr/>
          <p:nvPr/>
        </p:nvSpPr>
        <p:spPr>
          <a:xfrm>
            <a:off x="1296003" y="2257922"/>
            <a:ext cx="1098405" cy="5014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23ECAB-A229-4B50-6B7C-615E23DCBF5C}"/>
              </a:ext>
            </a:extLst>
          </p:cNvPr>
          <p:cNvSpPr/>
          <p:nvPr/>
        </p:nvSpPr>
        <p:spPr>
          <a:xfrm>
            <a:off x="2713371" y="5558331"/>
            <a:ext cx="821682" cy="4677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69B4E3-5F3D-CAB0-1692-F57635807181}"/>
              </a:ext>
            </a:extLst>
          </p:cNvPr>
          <p:cNvSpPr/>
          <p:nvPr/>
        </p:nvSpPr>
        <p:spPr>
          <a:xfrm>
            <a:off x="2500676" y="2257922"/>
            <a:ext cx="2288140" cy="5014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AD28E9-27E5-ABBE-4F54-99689CF8866E}"/>
              </a:ext>
            </a:extLst>
          </p:cNvPr>
          <p:cNvSpPr/>
          <p:nvPr/>
        </p:nvSpPr>
        <p:spPr>
          <a:xfrm>
            <a:off x="1271356" y="3122941"/>
            <a:ext cx="1136960" cy="9729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8BC36D7-5DAA-34C2-865E-23F824B14C02}"/>
              </a:ext>
            </a:extLst>
          </p:cNvPr>
          <p:cNvSpPr/>
          <p:nvPr/>
        </p:nvSpPr>
        <p:spPr>
          <a:xfrm>
            <a:off x="3606982" y="4366449"/>
            <a:ext cx="3205058" cy="11191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048755-8BDF-00F9-C77B-FE59FE0E9B92}"/>
              </a:ext>
            </a:extLst>
          </p:cNvPr>
          <p:cNvSpPr/>
          <p:nvPr/>
        </p:nvSpPr>
        <p:spPr>
          <a:xfrm>
            <a:off x="1504792" y="4493777"/>
            <a:ext cx="2030262" cy="9729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1A32CF3-FF42-F10B-D662-AF697C7DF3EF}"/>
              </a:ext>
            </a:extLst>
          </p:cNvPr>
          <p:cNvGrpSpPr/>
          <p:nvPr/>
        </p:nvGrpSpPr>
        <p:grpSpPr>
          <a:xfrm>
            <a:off x="6177202" y="1812700"/>
            <a:ext cx="248494" cy="276999"/>
            <a:chOff x="1061507" y="1889230"/>
            <a:chExt cx="248494" cy="276999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978B4C14-C8D4-DC76-3F2C-39C6F02628E0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EF42C7-9097-6A6D-8DCA-CEA5211C6AF6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5908DE8-21A3-6C56-E680-44794AE48B3E}"/>
              </a:ext>
            </a:extLst>
          </p:cNvPr>
          <p:cNvGrpSpPr/>
          <p:nvPr/>
        </p:nvGrpSpPr>
        <p:grpSpPr>
          <a:xfrm>
            <a:off x="1059512" y="1963716"/>
            <a:ext cx="248494" cy="276999"/>
            <a:chOff x="1061507" y="1889230"/>
            <a:chExt cx="248494" cy="276999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7CE81A7-6E85-2957-55EF-4CF5503DD9F6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DA4CB74-F58A-4BF9-54A4-04A4F69E9FE0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3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A050352-9CE7-8C2F-7226-DD4229CA7259}"/>
              </a:ext>
            </a:extLst>
          </p:cNvPr>
          <p:cNvGrpSpPr/>
          <p:nvPr/>
        </p:nvGrpSpPr>
        <p:grpSpPr>
          <a:xfrm>
            <a:off x="2408316" y="5480851"/>
            <a:ext cx="248494" cy="276999"/>
            <a:chOff x="1061507" y="1889230"/>
            <a:chExt cx="248494" cy="27699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74FA044A-9479-5E04-3CE3-714B57CFB6F8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DB7113-BC45-E57A-DCE0-04EC36CD538F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6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2469FE1-D30F-CAB6-97B6-C2F418FDFCA6}"/>
              </a:ext>
            </a:extLst>
          </p:cNvPr>
          <p:cNvGrpSpPr/>
          <p:nvPr/>
        </p:nvGrpSpPr>
        <p:grpSpPr>
          <a:xfrm>
            <a:off x="1201155" y="4366449"/>
            <a:ext cx="248494" cy="276999"/>
            <a:chOff x="1061507" y="1889230"/>
            <a:chExt cx="248494" cy="276999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3331A098-0FEE-49D0-F584-42E2945F8BD7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C1777E6-7317-A5A7-78D6-5009C09D2DCD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5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766E31A-13D1-A155-536F-851B4C94911D}"/>
              </a:ext>
            </a:extLst>
          </p:cNvPr>
          <p:cNvGrpSpPr/>
          <p:nvPr/>
        </p:nvGrpSpPr>
        <p:grpSpPr>
          <a:xfrm>
            <a:off x="995152" y="2868920"/>
            <a:ext cx="248494" cy="276999"/>
            <a:chOff x="1061507" y="1889230"/>
            <a:chExt cx="248494" cy="276999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D7E48E2B-A910-2465-0B75-49C643E43ECE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DCAB36E-13EF-F1FA-6BD4-0AD918934713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5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C24E164-F492-8E5D-994C-6F07AB3191AE}"/>
              </a:ext>
            </a:extLst>
          </p:cNvPr>
          <p:cNvGrpSpPr/>
          <p:nvPr/>
        </p:nvGrpSpPr>
        <p:grpSpPr>
          <a:xfrm>
            <a:off x="2270161" y="2822468"/>
            <a:ext cx="248494" cy="276999"/>
            <a:chOff x="1061507" y="1889230"/>
            <a:chExt cx="248494" cy="276999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5584A5A-049F-3DC7-D01E-C50634B6FD5F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8DECB83-FB7E-2919-494F-C263BA778F19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7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51190AB-4524-B791-140F-DC454B885539}"/>
              </a:ext>
            </a:extLst>
          </p:cNvPr>
          <p:cNvGrpSpPr/>
          <p:nvPr/>
        </p:nvGrpSpPr>
        <p:grpSpPr>
          <a:xfrm>
            <a:off x="3341704" y="4188772"/>
            <a:ext cx="248494" cy="276999"/>
            <a:chOff x="1061507" y="1889230"/>
            <a:chExt cx="248494" cy="276999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C059807-2299-1CD4-C378-177749233163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E88A96B-630D-60E1-035E-E39E7C198F10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7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E27EB5C-8BF6-82A0-253D-283AB48DE03E}"/>
              </a:ext>
            </a:extLst>
          </p:cNvPr>
          <p:cNvGrpSpPr/>
          <p:nvPr/>
        </p:nvGrpSpPr>
        <p:grpSpPr>
          <a:xfrm>
            <a:off x="2350628" y="1937470"/>
            <a:ext cx="248494" cy="276999"/>
            <a:chOff x="1061507" y="1889230"/>
            <a:chExt cx="248494" cy="276999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FFF944C-CA8B-1E83-BAD2-6DD56FA2F0D2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931094D-9A40-050E-D970-DE91C2281A09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4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E19B8AB-2ACE-0D9C-8121-4892609826BE}"/>
              </a:ext>
            </a:extLst>
          </p:cNvPr>
          <p:cNvGrpSpPr/>
          <p:nvPr/>
        </p:nvGrpSpPr>
        <p:grpSpPr>
          <a:xfrm>
            <a:off x="4698056" y="1944608"/>
            <a:ext cx="248494" cy="276999"/>
            <a:chOff x="1061507" y="1889230"/>
            <a:chExt cx="248494" cy="276999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D0BAF7A-1F83-C24A-FB7A-CF0E7BCBA9A3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F8DD4B1-8E50-9941-377F-BDF63C39D9C2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5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BBF6184-D3FC-ADC1-5329-F880D01C0361}"/>
              </a:ext>
            </a:extLst>
          </p:cNvPr>
          <p:cNvSpPr/>
          <p:nvPr/>
        </p:nvSpPr>
        <p:spPr>
          <a:xfrm>
            <a:off x="4887457" y="2260008"/>
            <a:ext cx="1098405" cy="5014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591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71DC-AF3C-0556-D559-2D695592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92683E-55D1-FAEB-DFC5-C834302FA93D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9" name="표 16">
            <a:extLst>
              <a:ext uri="{FF2B5EF4-FFF2-40B4-BE49-F238E27FC236}">
                <a16:creationId xmlns:a16="http://schemas.microsoft.com/office/drawing/2014/main" id="{A4A7CACB-A8E2-44C7-5917-4D399E73F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994819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이메일 전송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엑셀 파일 내 이메일 주소 입력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변수에 메일 주소 할당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메일 발송에 필요한 정보 설정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이미지 추출 실패 여부에 따라 입력 내용 수정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메일 발송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참조 유무 여부 판단</a:t>
                      </a:r>
                      <a:r>
                        <a:rPr lang="en-US" altLang="ko-KR" sz="9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엑셀에 명시된 이미지를 모두 전송하지 않았을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반복문에 의해 이미지 생성 절차의 </a:t>
                      </a:r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번 항목부터 반복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1BC6D0-54B4-C091-7FD1-D0AA9AF0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10</a:t>
            </a:fld>
            <a:endParaRPr lang="ko-KR" altLang="en-US" noProof="0"/>
          </a:p>
        </p:txBody>
      </p:sp>
      <p:pic>
        <p:nvPicPr>
          <p:cNvPr id="4" name="그림 3" descr="스크린샷, 텍스트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703533-CEE2-9F82-228B-882FF8E93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0" y="1402787"/>
            <a:ext cx="5844275" cy="1345623"/>
          </a:xfrm>
          <a:prstGeom prst="rect">
            <a:avLst/>
          </a:prstGeom>
        </p:spPr>
      </p:pic>
      <p:pic>
        <p:nvPicPr>
          <p:cNvPr id="14" name="그림 13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492F47-5275-9D7F-A336-05A0DC7CA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08" y="2748410"/>
            <a:ext cx="6989243" cy="337091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58E8136-6481-96F7-97E7-96F548BF4AE2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BEA7E5-E618-AE6E-942D-E8861AC20C5E}"/>
              </a:ext>
            </a:extLst>
          </p:cNvPr>
          <p:cNvSpPr/>
          <p:nvPr/>
        </p:nvSpPr>
        <p:spPr>
          <a:xfrm>
            <a:off x="1076935" y="1833491"/>
            <a:ext cx="949828" cy="4949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69EA73-831E-988D-7F29-FC9C6209A81D}"/>
              </a:ext>
            </a:extLst>
          </p:cNvPr>
          <p:cNvSpPr/>
          <p:nvPr/>
        </p:nvSpPr>
        <p:spPr>
          <a:xfrm>
            <a:off x="2196798" y="1484816"/>
            <a:ext cx="949828" cy="1137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12355C-7925-4BBB-E3B9-C0D9D3C60052}"/>
              </a:ext>
            </a:extLst>
          </p:cNvPr>
          <p:cNvGrpSpPr/>
          <p:nvPr/>
        </p:nvGrpSpPr>
        <p:grpSpPr>
          <a:xfrm>
            <a:off x="899514" y="1530019"/>
            <a:ext cx="248494" cy="276999"/>
            <a:chOff x="1061507" y="1889230"/>
            <a:chExt cx="248494" cy="276999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8471B2F-08D5-55FC-2418-7BBDF9A46041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0DB86A-556C-A7E2-8F0D-3DF17B5CE4E5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1362E00-71EA-8829-0964-41644242D676}"/>
              </a:ext>
            </a:extLst>
          </p:cNvPr>
          <p:cNvGrpSpPr/>
          <p:nvPr/>
        </p:nvGrpSpPr>
        <p:grpSpPr>
          <a:xfrm>
            <a:off x="1948304" y="1202641"/>
            <a:ext cx="248494" cy="276999"/>
            <a:chOff x="1061507" y="1889230"/>
            <a:chExt cx="248494" cy="276999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396807A-F775-B07A-56DB-AF1A4D5C97B2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E8CC65-BFE8-C916-45F3-54792826C9EE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53ECC1-35E5-21C8-D593-83AF43A229A2}"/>
              </a:ext>
            </a:extLst>
          </p:cNvPr>
          <p:cNvSpPr/>
          <p:nvPr/>
        </p:nvSpPr>
        <p:spPr>
          <a:xfrm>
            <a:off x="5320439" y="1826963"/>
            <a:ext cx="1033228" cy="5014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E48107E-35E8-9802-8204-9EAA9F686F75}"/>
              </a:ext>
            </a:extLst>
          </p:cNvPr>
          <p:cNvGrpSpPr/>
          <p:nvPr/>
        </p:nvGrpSpPr>
        <p:grpSpPr>
          <a:xfrm>
            <a:off x="5083946" y="1532757"/>
            <a:ext cx="251359" cy="276999"/>
            <a:chOff x="1061507" y="1889230"/>
            <a:chExt cx="248494" cy="276999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0A4FD40A-5CDE-46B9-7D67-23354FA80C73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86CB16-DA46-F9C0-161F-3407637A9807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3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D1B46BE-9EE0-2ECC-8426-C8A1BDC1DA82}"/>
              </a:ext>
            </a:extLst>
          </p:cNvPr>
          <p:cNvSpPr/>
          <p:nvPr/>
        </p:nvSpPr>
        <p:spPr>
          <a:xfrm>
            <a:off x="1226982" y="3031737"/>
            <a:ext cx="2430617" cy="30875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A29D6E4-60C1-5D9C-11DD-C74B2F13A5DC}"/>
              </a:ext>
            </a:extLst>
          </p:cNvPr>
          <p:cNvGrpSpPr/>
          <p:nvPr/>
        </p:nvGrpSpPr>
        <p:grpSpPr>
          <a:xfrm>
            <a:off x="1076935" y="2711285"/>
            <a:ext cx="248494" cy="276999"/>
            <a:chOff x="1061507" y="1889230"/>
            <a:chExt cx="248494" cy="276999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39BE2017-FB10-90DB-666B-B63E4D69F9FB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9E4469-A15B-4391-0193-657B59E8339B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4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C90FC1A-3C4A-C62B-402C-A547D3B4019D}"/>
              </a:ext>
            </a:extLst>
          </p:cNvPr>
          <p:cNvSpPr/>
          <p:nvPr/>
        </p:nvSpPr>
        <p:spPr>
          <a:xfrm>
            <a:off x="3736572" y="3031737"/>
            <a:ext cx="2833909" cy="30875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ABB384E-666E-57C8-ADA0-09F0A6C8847F}"/>
              </a:ext>
            </a:extLst>
          </p:cNvPr>
          <p:cNvGrpSpPr/>
          <p:nvPr/>
        </p:nvGrpSpPr>
        <p:grpSpPr>
          <a:xfrm>
            <a:off x="3460369" y="2777716"/>
            <a:ext cx="248494" cy="276999"/>
            <a:chOff x="1061507" y="1889230"/>
            <a:chExt cx="248494" cy="276999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A2D0BB42-AF86-E346-FA87-0A303BBA0039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4FDCC40-E4FB-9804-3CFE-882586467866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5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887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82847-7A3E-62E6-4E62-1C8F3D4B7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FB3302-441C-2C09-F9BE-2BFADF0CD02D}"/>
              </a:ext>
            </a:extLst>
          </p:cNvPr>
          <p:cNvSpPr txBox="1"/>
          <p:nvPr/>
        </p:nvSpPr>
        <p:spPr>
          <a:xfrm>
            <a:off x="556243" y="0"/>
            <a:ext cx="4692468" cy="462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6" b="1" dirty="0">
                <a:solidFill>
                  <a:schemeClr val="accent3">
                    <a:lumMod val="50000"/>
                  </a:schemeClr>
                </a:solidFill>
              </a:rPr>
              <a:t>3 – </a:t>
            </a:r>
            <a:r>
              <a:rPr lang="ko-KR" altLang="en-US" sz="2406" b="1" dirty="0">
                <a:solidFill>
                  <a:schemeClr val="accent3">
                    <a:lumMod val="50000"/>
                  </a:schemeClr>
                </a:solidFill>
              </a:rPr>
              <a:t>작업 절차</a:t>
            </a:r>
          </a:p>
        </p:txBody>
      </p:sp>
      <p:graphicFrame>
        <p:nvGraphicFramePr>
          <p:cNvPr id="9" name="표 16">
            <a:extLst>
              <a:ext uri="{FF2B5EF4-FFF2-40B4-BE49-F238E27FC236}">
                <a16:creationId xmlns:a16="http://schemas.microsoft.com/office/drawing/2014/main" id="{B04AC49B-F144-97A8-689E-5E547FE1D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608400"/>
              </p:ext>
            </p:extLst>
          </p:nvPr>
        </p:nvGraphicFramePr>
        <p:xfrm>
          <a:off x="587230" y="587230"/>
          <a:ext cx="10989578" cy="55728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3355884661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170707524"/>
                    </a:ext>
                  </a:extLst>
                </a:gridCol>
                <a:gridCol w="1022498">
                  <a:extLst>
                    <a:ext uri="{9D8B030D-6E8A-4147-A177-3AD203B41FA5}">
                      <a16:colId xmlns:a16="http://schemas.microsoft.com/office/drawing/2014/main" val="365190211"/>
                    </a:ext>
                  </a:extLst>
                </a:gridCol>
                <a:gridCol w="1292863">
                  <a:extLst>
                    <a:ext uri="{9D8B030D-6E8A-4147-A177-3AD203B41FA5}">
                      <a16:colId xmlns:a16="http://schemas.microsoft.com/office/drawing/2014/main" val="987199902"/>
                    </a:ext>
                  </a:extLst>
                </a:gridCol>
                <a:gridCol w="2877425">
                  <a:extLst>
                    <a:ext uri="{9D8B030D-6E8A-4147-A177-3AD203B41FA5}">
                      <a16:colId xmlns:a16="http://schemas.microsoft.com/office/drawing/2014/main" val="338014259"/>
                    </a:ext>
                  </a:extLst>
                </a:gridCol>
              </a:tblGrid>
              <a:tr h="276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개요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엑셀 정리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작업 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371606"/>
                  </a:ext>
                </a:extLst>
              </a:tr>
              <a:tr h="305080">
                <a:tc rowSpan="4"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작업 상세 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91980"/>
                  </a:ext>
                </a:extLst>
              </a:tr>
              <a:tr h="35324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엑셀 저장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900" b="0" baseline="0" dirty="0">
                          <a:solidFill>
                            <a:schemeClr val="tx1"/>
                          </a:solidFill>
                        </a:rPr>
                        <a:t>엑셀 종료</a:t>
                      </a:r>
                      <a:endParaRPr lang="en-US" altLang="ko-KR" sz="9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640724"/>
                  </a:ext>
                </a:extLst>
              </a:tr>
              <a:tr h="31133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비고 및 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30953"/>
                  </a:ext>
                </a:extLst>
              </a:tr>
              <a:tr h="11334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dirty="0"/>
                        <a:t>엑셀 저장 경로에 </a:t>
                      </a:r>
                      <a:r>
                        <a:rPr lang="en-US" altLang="ko-KR" sz="900" dirty="0"/>
                        <a:t>global </a:t>
                      </a:r>
                      <a:r>
                        <a:rPr lang="ko-KR" altLang="en-US" sz="900" dirty="0"/>
                        <a:t>변수 참조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673814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547FD5D-2D1C-29A3-02F1-42E83207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altLang="ko-KR" noProof="0" smtClean="0"/>
              <a:pPr/>
              <a:t>11</a:t>
            </a:fld>
            <a:endParaRPr lang="ko-KR" altLang="en-US" noProof="0"/>
          </a:p>
        </p:txBody>
      </p:sp>
      <p:pic>
        <p:nvPicPr>
          <p:cNvPr id="4" name="그림 3" descr="스크린샷, 라인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4463AA-F1F6-7032-E9ED-1A166B854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717" y="1490496"/>
            <a:ext cx="5943600" cy="142875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6D124F5-A62F-C7EA-C02F-E47FAEF9C6F4}"/>
              </a:ext>
            </a:extLst>
          </p:cNvPr>
          <p:cNvCxnSpPr>
            <a:cxnSpLocks/>
          </p:cNvCxnSpPr>
          <p:nvPr/>
        </p:nvCxnSpPr>
        <p:spPr>
          <a:xfrm>
            <a:off x="515531" y="461394"/>
            <a:ext cx="11052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136A7D-1B97-DCF0-D1F9-C64D8BF47587}"/>
              </a:ext>
            </a:extLst>
          </p:cNvPr>
          <p:cNvSpPr/>
          <p:nvPr/>
        </p:nvSpPr>
        <p:spPr>
          <a:xfrm>
            <a:off x="2073896" y="1767495"/>
            <a:ext cx="1932495" cy="9474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BA9B74F-C3DB-BECC-E58E-FA0F2B0A832D}"/>
              </a:ext>
            </a:extLst>
          </p:cNvPr>
          <p:cNvGrpSpPr/>
          <p:nvPr/>
        </p:nvGrpSpPr>
        <p:grpSpPr>
          <a:xfrm>
            <a:off x="1708350" y="1464424"/>
            <a:ext cx="248494" cy="276999"/>
            <a:chOff x="1061507" y="1889230"/>
            <a:chExt cx="248494" cy="276999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25312B2-BCEF-C6D0-3CB6-6718E275A9A3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9C01107-4C5A-3517-BFAB-188CBE14A027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1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4B144EA-A40D-4E98-8346-E19A592A77B6}"/>
              </a:ext>
            </a:extLst>
          </p:cNvPr>
          <p:cNvGrpSpPr/>
          <p:nvPr/>
        </p:nvGrpSpPr>
        <p:grpSpPr>
          <a:xfrm>
            <a:off x="4006391" y="1477460"/>
            <a:ext cx="248494" cy="276999"/>
            <a:chOff x="1061507" y="1889230"/>
            <a:chExt cx="248494" cy="276999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1A4DF0E-5766-C079-85AA-1F87A3080604}"/>
                </a:ext>
              </a:extLst>
            </p:cNvPr>
            <p:cNvSpPr/>
            <p:nvPr/>
          </p:nvSpPr>
          <p:spPr>
            <a:xfrm flipH="1" flipV="1">
              <a:off x="1089597" y="1938187"/>
              <a:ext cx="220404" cy="2126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AE3296-54B6-8516-AEDA-DF96E0A5CE1C}"/>
                </a:ext>
              </a:extLst>
            </p:cNvPr>
            <p:cNvSpPr txBox="1"/>
            <p:nvPr/>
          </p:nvSpPr>
          <p:spPr>
            <a:xfrm>
              <a:off x="1061507" y="1889230"/>
              <a:ext cx="2317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2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EEC7C3-2ACD-CEC4-3F3E-F90D97AB5A66}"/>
              </a:ext>
            </a:extLst>
          </p:cNvPr>
          <p:cNvSpPr/>
          <p:nvPr/>
        </p:nvSpPr>
        <p:spPr>
          <a:xfrm>
            <a:off x="4242062" y="1800520"/>
            <a:ext cx="1853938" cy="9144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540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812</Words>
  <Application>Microsoft Office PowerPoint</Application>
  <PresentationFormat>와이드스크린</PresentationFormat>
  <Paragraphs>232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PC-04</dc:creator>
  <cp:lastModifiedBy>동혁 이</cp:lastModifiedBy>
  <cp:revision>10</cp:revision>
  <dcterms:created xsi:type="dcterms:W3CDTF">2026-01-09T02:23:42Z</dcterms:created>
  <dcterms:modified xsi:type="dcterms:W3CDTF">2026-01-10T14:25:38Z</dcterms:modified>
</cp:coreProperties>
</file>