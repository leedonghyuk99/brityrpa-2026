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7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DB8DE-5DCE-9E0E-ADD6-D575BD443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829665-C27A-36BC-4BB4-823084FCC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6B58E4-5E56-A6C0-854A-A1730C89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6BCDEE-DB65-441F-AF4B-71A047FD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7E44A8-9103-E95A-4C4E-5CEFE3B2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5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739EB-64E5-DC79-091B-52744FC3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A682-2BBE-7AC2-7838-9C5B00936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CA4531-46CB-3DA2-722D-46FB08A89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A590E0-2557-3EF5-8772-FA008D90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3531AC-07AE-445A-9FAF-4549EE3C4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232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DA2A3-18C3-3635-9F11-9FB3E6D59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AC46EF-3982-3341-8998-15019E865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E7BD84-6662-6D08-249B-618251A5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870ECC-3E90-0527-7F32-CB8A3A19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088445-679D-6C76-850E-882CAC88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51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E0AF4-EA18-54E8-872A-628C4D55B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AC47A-2CA5-9633-E87C-28B25C174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6953B5-F178-AFFE-A9F9-E3324EB33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F70E09-5620-83C4-FF37-A859A424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014039-DDB1-B7AF-FC08-37A2EE70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6005B9-D53F-B58A-83DB-FDF3873F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639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D092D-E939-1D27-C8C8-1B6CF5128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35A743-69A5-7E9C-8FB5-FE1AC0711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2E9D3A-BC18-0702-D679-EAE85ADB6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3F573F-F306-4A3F-BF05-EE8BCBE445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4B1222-F9F6-E611-39CD-58C9B1384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0E8D48-4404-D6A4-1F31-E24645FCC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2A5A57-12A3-9D26-BF77-FC9418208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0B735D-0523-6649-48F5-B1EE0DF7A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52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C4CC8-AB91-B0BF-DDCE-1027B830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802668-0695-ADC6-A73A-98949042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9C5B79-A336-E31F-8E10-75DC68231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590C5F-4001-1013-1FF6-A29A19482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31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54BB6B-7DF7-316C-5DCB-0FEC1A395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CED09E-3344-D8C3-B2A2-D790855C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F077D0-C860-EFC7-40C5-E9F0AC553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770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C665B-1BA3-A9CE-9A2A-FE11D7B4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8D6BEC-0E46-E84E-5AD6-DC92FB3AF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AD14EB-63F7-8717-FE6C-2E73E5D8A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9D2F0A-798D-0E7D-9B80-6293C0874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8C440E-A7BD-B059-F869-334DCE6C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3F828E-5CB8-AB4D-F9AB-4F9808D5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69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D977C-C93C-6827-2495-F4F57DF58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B0783A-5E06-BE13-3A1B-E366D3CC7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6C99C8-9D7B-FCD3-A3F1-5FCC6EA21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86AF95-1507-9405-1CD1-E2C7C368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3CDF25-DCEF-A00E-74E0-0EC6B7DC8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789ACF-07A4-424C-F95D-5CDE6EBDA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821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0447D-D19B-5527-CD71-8D0A822F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1213AA-C8E3-D1F2-AECA-9638A6ACB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EDC47A-2D8F-90E5-56C7-5525ED23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8AC729-E812-2D9A-3F10-5A0D6672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37EBBC-0C95-863D-1BB0-8C84561A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05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8A1532-EB5B-2EFA-38A0-BA1F5192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618003-B9E8-121C-FDDC-297658DBA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6DA751-76DB-54AC-ED68-C0556303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3DBDE-0397-6D40-AE95-3268245F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7A16B7-558B-200C-C253-6A8CEDA1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109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5F62D7-8D52-79C2-0678-405DC671A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9F56DA-5B8E-0F67-9E72-E97D19A85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183058-7BF8-86FC-988B-BAADC1A15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D3047-423F-4517-9CE7-5DBC2E7A1321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D3F23-60A4-3A82-732A-A357F286D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9A7BC3-1E2A-FD76-CCA2-594483381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DDEE5-38C9-47E1-9B1D-7B9331C6C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423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5AB4AA-4DB3-B3FC-4911-43FEC461917D}"/>
              </a:ext>
            </a:extLst>
          </p:cNvPr>
          <p:cNvSpPr txBox="1"/>
          <p:nvPr/>
        </p:nvSpPr>
        <p:spPr>
          <a:xfrm>
            <a:off x="8011487" y="5038237"/>
            <a:ext cx="3129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3">
                    <a:lumMod val="50000"/>
                  </a:schemeClr>
                </a:solidFill>
              </a:rPr>
              <a:t>작성자 </a:t>
            </a:r>
            <a:r>
              <a:rPr lang="en-US" altLang="ko-KR" b="1" dirty="0">
                <a:solidFill>
                  <a:schemeClr val="accent3">
                    <a:lumMod val="50000"/>
                  </a:schemeClr>
                </a:solidFill>
              </a:rPr>
              <a:t>: </a:t>
            </a:r>
            <a:r>
              <a:rPr lang="ko-KR" altLang="en-US" b="1" dirty="0">
                <a:solidFill>
                  <a:schemeClr val="accent3">
                    <a:lumMod val="50000"/>
                  </a:schemeClr>
                </a:solidFill>
              </a:rPr>
              <a:t>이동혁</a:t>
            </a:r>
            <a:endParaRPr lang="en-US" altLang="ko-KR" b="1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ko-KR" altLang="en-US" b="1" dirty="0">
                <a:solidFill>
                  <a:schemeClr val="accent3">
                    <a:lumMod val="50000"/>
                  </a:schemeClr>
                </a:solidFill>
              </a:rPr>
              <a:t>작성 날짜 </a:t>
            </a:r>
            <a:r>
              <a:rPr lang="en-US" altLang="ko-KR" b="1" dirty="0">
                <a:solidFill>
                  <a:schemeClr val="accent3">
                    <a:lumMod val="50000"/>
                  </a:schemeClr>
                </a:solidFill>
              </a:rPr>
              <a:t>: 25.12.29</a:t>
            </a:r>
            <a:endParaRPr lang="ko-KR" altLang="en-US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5D9E3-D46B-23A7-B681-623F46AEC49B}"/>
              </a:ext>
            </a:extLst>
          </p:cNvPr>
          <p:cNvSpPr txBox="1"/>
          <p:nvPr/>
        </p:nvSpPr>
        <p:spPr>
          <a:xfrm>
            <a:off x="2231472" y="2381825"/>
            <a:ext cx="67174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chemeClr val="accent3">
                    <a:lumMod val="50000"/>
                  </a:schemeClr>
                </a:solidFill>
              </a:rPr>
              <a:t>미니프로젝트</a:t>
            </a:r>
            <a:r>
              <a:rPr lang="en-US" altLang="ko-KR" sz="2600" b="1" dirty="0">
                <a:solidFill>
                  <a:schemeClr val="accent3">
                    <a:lumMod val="50000"/>
                  </a:schemeClr>
                </a:solidFill>
              </a:rPr>
              <a:t>2_</a:t>
            </a:r>
            <a:r>
              <a:rPr lang="ko-KR" altLang="en-US" sz="2600" b="1" dirty="0" err="1">
                <a:solidFill>
                  <a:schemeClr val="accent3">
                    <a:lumMod val="50000"/>
                  </a:schemeClr>
                </a:solidFill>
              </a:rPr>
              <a:t>제조사별판매실적조회</a:t>
            </a:r>
            <a:endParaRPr lang="ko-KR" altLang="en-US" sz="2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680CA11-8FA4-1C7F-45E4-4A8637890C82}"/>
              </a:ext>
            </a:extLst>
          </p:cNvPr>
          <p:cNvCxnSpPr/>
          <p:nvPr/>
        </p:nvCxnSpPr>
        <p:spPr>
          <a:xfrm>
            <a:off x="1719743" y="2994870"/>
            <a:ext cx="81037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545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857283-E80F-6992-D23D-1184D91F0BDB}"/>
              </a:ext>
            </a:extLst>
          </p:cNvPr>
          <p:cNvSpPr txBox="1"/>
          <p:nvPr/>
        </p:nvSpPr>
        <p:spPr>
          <a:xfrm>
            <a:off x="788567" y="935599"/>
            <a:ext cx="1024295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주요 요구 사항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&gt;</a:t>
            </a:r>
            <a:r>
              <a:rPr lang="en-US" altLang="ko-KR" sz="2000" dirty="0" err="1">
                <a:solidFill>
                  <a:schemeClr val="accent3">
                    <a:lumMod val="50000"/>
                  </a:schemeClr>
                </a:solidFill>
              </a:rPr>
              <a:t>inputbox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를 이용해 조회할 회사 명을 </a:t>
            </a:r>
            <a:r>
              <a:rPr lang="ko-KR" altLang="en-US" sz="2000" dirty="0" err="1">
                <a:solidFill>
                  <a:schemeClr val="accent3">
                    <a:lumMod val="50000"/>
                  </a:schemeClr>
                </a:solidFill>
              </a:rPr>
              <a:t>입력받아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 검색할 브랜드 리스트에 추가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만일 입력란을 공란으로 남길 시 준비된 브랜드 리스트를 그대로 사용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&gt;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동일한 방식으로 조회할 기간을 </a:t>
            </a:r>
            <a:r>
              <a:rPr lang="ko-KR" altLang="en-US" sz="2000" dirty="0" err="1">
                <a:solidFill>
                  <a:schemeClr val="accent3">
                    <a:lumMod val="50000"/>
                  </a:schemeClr>
                </a:solidFill>
              </a:rPr>
              <a:t>입력받아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 검색에 사용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  <a:b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공란으로 남길 시 현재 시점에서 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1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년 전 날짜를 적용하여 검색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참고사항</a:t>
            </a:r>
            <a:b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준비된 브랜드 리스트 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–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현대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기아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제네시스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쉐보레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, KGM, </a:t>
            </a:r>
            <a:r>
              <a:rPr lang="ko-KR" altLang="en-US" sz="2000" dirty="0" err="1">
                <a:solidFill>
                  <a:schemeClr val="accent3">
                    <a:lumMod val="50000"/>
                  </a:schemeClr>
                </a:solidFill>
              </a:rPr>
              <a:t>르노코리아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pPr marL="914400" lvl="1" indent="-457200">
              <a:buFontTx/>
              <a:buChar char="-"/>
            </a:pP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A916228-2303-2DDF-938C-992A855F9613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588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C27F9-4DB7-FE5A-CF59-687ED271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6">
            <a:extLst>
              <a:ext uri="{FF2B5EF4-FFF2-40B4-BE49-F238E27FC236}">
                <a16:creationId xmlns:a16="http://schemas.microsoft.com/office/drawing/2014/main" id="{65816585-760C-68C4-274F-61E5788B6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268200"/>
              </p:ext>
            </p:extLst>
          </p:nvPr>
        </p:nvGraphicFramePr>
        <p:xfrm>
          <a:off x="578841" y="595618"/>
          <a:ext cx="10989578" cy="56038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448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2495244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429566">
                  <a:extLst>
                    <a:ext uri="{9D8B030D-6E8A-4147-A177-3AD203B41FA5}">
                      <a16:colId xmlns:a16="http://schemas.microsoft.com/office/drawing/2014/main" val="3392394867"/>
                    </a:ext>
                  </a:extLst>
                </a:gridCol>
                <a:gridCol w="2685851">
                  <a:extLst>
                    <a:ext uri="{9D8B030D-6E8A-4147-A177-3AD203B41FA5}">
                      <a16:colId xmlns:a16="http://schemas.microsoft.com/office/drawing/2014/main" val="3628893239"/>
                    </a:ext>
                  </a:extLst>
                </a:gridCol>
                <a:gridCol w="798463">
                  <a:extLst>
                    <a:ext uri="{9D8B030D-6E8A-4147-A177-3AD203B41FA5}">
                      <a16:colId xmlns:a16="http://schemas.microsoft.com/office/drawing/2014/main" val="4202872511"/>
                    </a:ext>
                  </a:extLst>
                </a:gridCol>
                <a:gridCol w="683087">
                  <a:extLst>
                    <a:ext uri="{9D8B030D-6E8A-4147-A177-3AD203B41FA5}">
                      <a16:colId xmlns:a16="http://schemas.microsoft.com/office/drawing/2014/main" val="1833296149"/>
                    </a:ext>
                  </a:extLst>
                </a:gridCol>
                <a:gridCol w="1472884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3190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과제명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제조사별판매실적조회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부서명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부서명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현업담당자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담당 강사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190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2025.12.29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2026.01.06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사용시스템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Edge, Excel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개발담당자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이동혁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926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업무 요약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사용자의 요청사항에 맞는 이미지 생성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분석 후 결과 전송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업무에 대한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줄 정도 요약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281679"/>
                  </a:ext>
                </a:extLst>
              </a:tr>
              <a:tr h="319037"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설계 순서도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업무 순서도 및 절차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업무 선순도 및 절차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  <a:tr h="263735">
                <a:tc rowSpan="2" gridSpan="5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완료 후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결과파일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4090371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en-US" altLang="ko-KR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7733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58986F1-2C3C-C03D-38CF-308B22692F91}"/>
              </a:ext>
            </a:extLst>
          </p:cNvPr>
          <p:cNvSpPr txBox="1"/>
          <p:nvPr/>
        </p:nvSpPr>
        <p:spPr>
          <a:xfrm>
            <a:off x="587230" y="-145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PDD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순서도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BFFB4201-3B24-B410-F0AC-79DE5520888B}"/>
              </a:ext>
            </a:extLst>
          </p:cNvPr>
          <p:cNvCxnSpPr>
            <a:cxnSpLocks/>
            <a:stCxn id="6" idx="6"/>
            <a:endCxn id="7" idx="1"/>
          </p:cNvCxnSpPr>
          <p:nvPr/>
        </p:nvCxnSpPr>
        <p:spPr>
          <a:xfrm>
            <a:off x="1030061" y="2637875"/>
            <a:ext cx="492840" cy="11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표 16">
            <a:extLst>
              <a:ext uri="{FF2B5EF4-FFF2-40B4-BE49-F238E27FC236}">
                <a16:creationId xmlns:a16="http://schemas.microsoft.com/office/drawing/2014/main" id="{AC4870C6-A5C0-1BA5-DD77-EC4E40830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026796"/>
              </p:ext>
            </p:extLst>
          </p:nvPr>
        </p:nvGraphicFramePr>
        <p:xfrm>
          <a:off x="4612937" y="2131801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사이트 접속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사이트 접속 및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Edge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다운로드 설정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A934C9C8-9A74-677B-DD0D-61469E965C33}"/>
              </a:ext>
            </a:extLst>
          </p:cNvPr>
          <p:cNvSpPr/>
          <p:nvPr/>
        </p:nvSpPr>
        <p:spPr>
          <a:xfrm>
            <a:off x="644167" y="2461706"/>
            <a:ext cx="385894" cy="3523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시작</a:t>
            </a:r>
            <a:endParaRPr lang="ko-KR" altLang="en-US" sz="2000" dirty="0"/>
          </a:p>
        </p:txBody>
      </p:sp>
      <p:graphicFrame>
        <p:nvGraphicFramePr>
          <p:cNvPr id="7" name="표 16">
            <a:extLst>
              <a:ext uri="{FF2B5EF4-FFF2-40B4-BE49-F238E27FC236}">
                <a16:creationId xmlns:a16="http://schemas.microsoft.com/office/drawing/2014/main" id="{FA7CFEAD-2C9E-3ED9-4168-2CEEC762F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541352"/>
              </p:ext>
            </p:extLst>
          </p:nvPr>
        </p:nvGraphicFramePr>
        <p:xfrm>
          <a:off x="1522901" y="2134618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폴더 및 파일정리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저장 경로 및 작업 파일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graphicFrame>
        <p:nvGraphicFramePr>
          <p:cNvPr id="8" name="표 16">
            <a:extLst>
              <a:ext uri="{FF2B5EF4-FFF2-40B4-BE49-F238E27FC236}">
                <a16:creationId xmlns:a16="http://schemas.microsoft.com/office/drawing/2014/main" id="{E760F3EC-1E6C-FBF0-9113-D0976D87E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116784"/>
              </p:ext>
            </p:extLst>
          </p:nvPr>
        </p:nvGraphicFramePr>
        <p:xfrm>
          <a:off x="3054035" y="2135636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검색 요소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검색에 필요한 선택 요소 입력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graphicFrame>
        <p:nvGraphicFramePr>
          <p:cNvPr id="9" name="표 16">
            <a:extLst>
              <a:ext uri="{FF2B5EF4-FFF2-40B4-BE49-F238E27FC236}">
                <a16:creationId xmlns:a16="http://schemas.microsoft.com/office/drawing/2014/main" id="{A592EAB5-BBA2-531C-5589-0BD3ADB7C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259428"/>
              </p:ext>
            </p:extLst>
          </p:nvPr>
        </p:nvGraphicFramePr>
        <p:xfrm>
          <a:off x="4454717" y="3203743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데이터 추출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웹 상 데이터 추출 및 편집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23FA917-E373-C6DB-6AF6-F0FBB9FC06D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783994" y="2649471"/>
            <a:ext cx="270041" cy="1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351457D-9DB7-2D47-A728-33415FE8F541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4315128" y="2646654"/>
            <a:ext cx="297809" cy="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1D1C64F-1A7E-D578-20EC-8146A07A0168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 flipV="1">
            <a:off x="5874030" y="2643836"/>
            <a:ext cx="321929" cy="2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D988B78-A874-2380-7DD4-3745D6612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566294"/>
              </p:ext>
            </p:extLst>
          </p:nvPr>
        </p:nvGraphicFramePr>
        <p:xfrm>
          <a:off x="7988750" y="4490874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인터넷 종료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Edge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창 종료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C5AAE91E-5103-93BF-DE42-46056BD69FF5}"/>
              </a:ext>
            </a:extLst>
          </p:cNvPr>
          <p:cNvSpPr/>
          <p:nvPr/>
        </p:nvSpPr>
        <p:spPr>
          <a:xfrm>
            <a:off x="8426349" y="5733030"/>
            <a:ext cx="385894" cy="3523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종료</a:t>
            </a:r>
            <a:endParaRPr lang="ko-KR" altLang="en-US" sz="20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7143DB5-4577-4171-7AC0-09EAC95C757B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8619296" y="5520580"/>
            <a:ext cx="0" cy="21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11749141-2D66-71D9-E40F-02ED1BD33E66}"/>
              </a:ext>
            </a:extLst>
          </p:cNvPr>
          <p:cNvSpPr/>
          <p:nvPr/>
        </p:nvSpPr>
        <p:spPr>
          <a:xfrm>
            <a:off x="5913307" y="4602788"/>
            <a:ext cx="1633250" cy="80587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지정한 </a:t>
            </a:r>
            <a:r>
              <a:rPr lang="ko-KR" altLang="en-US" sz="900" dirty="0">
                <a:solidFill>
                  <a:schemeClr val="lt1"/>
                </a:solidFill>
              </a:rPr>
              <a:t>모든 회사 엑셀 작성 완료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7498ED5-86FD-7388-0B98-6714CE1E92E0}"/>
              </a:ext>
            </a:extLst>
          </p:cNvPr>
          <p:cNvSpPr/>
          <p:nvPr/>
        </p:nvSpPr>
        <p:spPr>
          <a:xfrm>
            <a:off x="6600262" y="4112641"/>
            <a:ext cx="253096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</a:t>
            </a:r>
            <a:endParaRPr lang="ko-KR" altLang="en-US" sz="1200" dirty="0"/>
          </a:p>
        </p:txBody>
      </p:sp>
      <p:cxnSp>
        <p:nvCxnSpPr>
          <p:cNvPr id="18" name="연결선: 꺾임 379">
            <a:extLst>
              <a:ext uri="{FF2B5EF4-FFF2-40B4-BE49-F238E27FC236}">
                <a16:creationId xmlns:a16="http://schemas.microsoft.com/office/drawing/2014/main" id="{0B31150F-F92C-3B71-7627-013425D48CBC}"/>
              </a:ext>
            </a:extLst>
          </p:cNvPr>
          <p:cNvCxnSpPr>
            <a:cxnSpLocks/>
            <a:stCxn id="9" idx="1"/>
            <a:endCxn id="23" idx="0"/>
          </p:cNvCxnSpPr>
          <p:nvPr/>
        </p:nvCxnSpPr>
        <p:spPr>
          <a:xfrm rot="10800000" flipV="1">
            <a:off x="1598669" y="3718595"/>
            <a:ext cx="2856049" cy="7722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BA95FC9B-375C-840C-9203-64F5DCC29F7C}"/>
              </a:ext>
            </a:extLst>
          </p:cNvPr>
          <p:cNvSpPr/>
          <p:nvPr/>
        </p:nvSpPr>
        <p:spPr>
          <a:xfrm>
            <a:off x="7604403" y="4877791"/>
            <a:ext cx="245378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Y</a:t>
            </a:r>
            <a:endParaRPr lang="ko-KR" altLang="en-US" sz="1400" dirty="0"/>
          </a:p>
        </p:txBody>
      </p:sp>
      <p:graphicFrame>
        <p:nvGraphicFramePr>
          <p:cNvPr id="20" name="표 16">
            <a:extLst>
              <a:ext uri="{FF2B5EF4-FFF2-40B4-BE49-F238E27FC236}">
                <a16:creationId xmlns:a16="http://schemas.microsoft.com/office/drawing/2014/main" id="{1D878EC5-34E5-BA09-08CD-D96EDFFAD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171945"/>
              </p:ext>
            </p:extLst>
          </p:nvPr>
        </p:nvGraphicFramePr>
        <p:xfrm>
          <a:off x="2669096" y="4502720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8.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엑셀 저장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원본 시트 제거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지정된 파일명으로 엑셀 저장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graphicFrame>
        <p:nvGraphicFramePr>
          <p:cNvPr id="21" name="표 16">
            <a:extLst>
              <a:ext uri="{FF2B5EF4-FFF2-40B4-BE49-F238E27FC236}">
                <a16:creationId xmlns:a16="http://schemas.microsoft.com/office/drawing/2014/main" id="{304043CD-2F79-D537-1153-A731F02BD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224716"/>
              </p:ext>
            </p:extLst>
          </p:nvPr>
        </p:nvGraphicFramePr>
        <p:xfrm>
          <a:off x="6195959" y="2128983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조회조건 검색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사이트에서 검색 요소 설정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02A301A-1C14-7148-7864-381864844871}"/>
              </a:ext>
            </a:extLst>
          </p:cNvPr>
          <p:cNvCxnSpPr>
            <a:cxnSpLocks/>
          </p:cNvCxnSpPr>
          <p:nvPr/>
        </p:nvCxnSpPr>
        <p:spPr>
          <a:xfrm>
            <a:off x="7457052" y="2649471"/>
            <a:ext cx="211992" cy="5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표 16">
            <a:extLst>
              <a:ext uri="{FF2B5EF4-FFF2-40B4-BE49-F238E27FC236}">
                <a16:creationId xmlns:a16="http://schemas.microsoft.com/office/drawing/2014/main" id="{925622B5-FA35-BD51-61D8-FDC12F9A0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724998"/>
              </p:ext>
            </p:extLst>
          </p:nvPr>
        </p:nvGraphicFramePr>
        <p:xfrm>
          <a:off x="968122" y="4490875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데이터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템플릿 입력에 필요한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데이터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스크랩핑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운임요금 제외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FD7AD26-3B31-89EF-ADD9-EA0C7AC2D54B}"/>
              </a:ext>
            </a:extLst>
          </p:cNvPr>
          <p:cNvCxnSpPr>
            <a:cxnSpLocks/>
            <a:stCxn id="16" idx="3"/>
            <a:endCxn id="19" idx="2"/>
          </p:cNvCxnSpPr>
          <p:nvPr/>
        </p:nvCxnSpPr>
        <p:spPr>
          <a:xfrm>
            <a:off x="7546557" y="5005726"/>
            <a:ext cx="5784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0821E38-F264-13E1-52F6-03D1868DCEE5}"/>
              </a:ext>
            </a:extLst>
          </p:cNvPr>
          <p:cNvCxnSpPr>
            <a:cxnSpLocks/>
            <a:stCxn id="19" idx="6"/>
            <a:endCxn id="13" idx="1"/>
          </p:cNvCxnSpPr>
          <p:nvPr/>
        </p:nvCxnSpPr>
        <p:spPr>
          <a:xfrm>
            <a:off x="7849781" y="5005727"/>
            <a:ext cx="138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ACE10FA-C70A-82C1-E247-985CBB3F7F12}"/>
              </a:ext>
            </a:extLst>
          </p:cNvPr>
          <p:cNvCxnSpPr>
            <a:cxnSpLocks/>
            <a:stCxn id="23" idx="3"/>
            <a:endCxn id="20" idx="1"/>
          </p:cNvCxnSpPr>
          <p:nvPr/>
        </p:nvCxnSpPr>
        <p:spPr>
          <a:xfrm>
            <a:off x="2229215" y="5005728"/>
            <a:ext cx="439881" cy="11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FF00D55-588C-A3F3-ACF0-58D73FB3A157}"/>
              </a:ext>
            </a:extLst>
          </p:cNvPr>
          <p:cNvCxnSpPr>
            <a:cxnSpLocks/>
            <a:stCxn id="16" idx="0"/>
            <a:endCxn id="17" idx="4"/>
          </p:cNvCxnSpPr>
          <p:nvPr/>
        </p:nvCxnSpPr>
        <p:spPr>
          <a:xfrm flipH="1" flipV="1">
            <a:off x="6726810" y="4368512"/>
            <a:ext cx="3122" cy="234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8" name="표 16">
            <a:extLst>
              <a:ext uri="{FF2B5EF4-FFF2-40B4-BE49-F238E27FC236}">
                <a16:creationId xmlns:a16="http://schemas.microsoft.com/office/drawing/2014/main" id="{870F75DD-F9B1-96B8-E737-D59CDFEF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90980"/>
              </p:ext>
            </p:extLst>
          </p:nvPr>
        </p:nvGraphicFramePr>
        <p:xfrm>
          <a:off x="4264052" y="4502720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1792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사이트 복귀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검색 전 사이트로 복귀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432FFCC-A520-7F5C-7B24-F8CDBE9C6C96}"/>
              </a:ext>
            </a:extLst>
          </p:cNvPr>
          <p:cNvCxnSpPr>
            <a:cxnSpLocks/>
            <a:stCxn id="28" idx="3"/>
            <a:endCxn id="16" idx="1"/>
          </p:cNvCxnSpPr>
          <p:nvPr/>
        </p:nvCxnSpPr>
        <p:spPr>
          <a:xfrm flipV="1">
            <a:off x="5525145" y="5005726"/>
            <a:ext cx="388162" cy="11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45CDF49-F552-5342-A3C0-D118576B59BC}"/>
              </a:ext>
            </a:extLst>
          </p:cNvPr>
          <p:cNvCxnSpPr>
            <a:cxnSpLocks/>
            <a:stCxn id="20" idx="3"/>
            <a:endCxn id="28" idx="1"/>
          </p:cNvCxnSpPr>
          <p:nvPr/>
        </p:nvCxnSpPr>
        <p:spPr>
          <a:xfrm>
            <a:off x="3930189" y="5017573"/>
            <a:ext cx="333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연결선: 꺾임 379">
            <a:extLst>
              <a:ext uri="{FF2B5EF4-FFF2-40B4-BE49-F238E27FC236}">
                <a16:creationId xmlns:a16="http://schemas.microsoft.com/office/drawing/2014/main" id="{048DA0C3-5A2B-F8B3-2031-4F2DDBE7A965}"/>
              </a:ext>
            </a:extLst>
          </p:cNvPr>
          <p:cNvCxnSpPr>
            <a:cxnSpLocks/>
            <a:stCxn id="32" idx="2"/>
            <a:endCxn id="9" idx="3"/>
          </p:cNvCxnSpPr>
          <p:nvPr/>
        </p:nvCxnSpPr>
        <p:spPr>
          <a:xfrm rot="5400000">
            <a:off x="6759588" y="2120546"/>
            <a:ext cx="554272" cy="26418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표 16">
            <a:extLst>
              <a:ext uri="{FF2B5EF4-FFF2-40B4-BE49-F238E27FC236}">
                <a16:creationId xmlns:a16="http://schemas.microsoft.com/office/drawing/2014/main" id="{2C80CBF3-4B52-6C23-66CE-ECC167E7B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875070"/>
              </p:ext>
            </p:extLst>
          </p:nvPr>
        </p:nvGraphicFramePr>
        <p:xfrm>
          <a:off x="7727092" y="2134618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이미지 추출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그래프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도표 이미지 선택하여 추출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1EAC47C-E790-F549-A469-A3C07D1F4D2A}"/>
              </a:ext>
            </a:extLst>
          </p:cNvPr>
          <p:cNvCxnSpPr>
            <a:cxnSpLocks/>
          </p:cNvCxnSpPr>
          <p:nvPr/>
        </p:nvCxnSpPr>
        <p:spPr>
          <a:xfrm flipV="1">
            <a:off x="6726810" y="3154611"/>
            <a:ext cx="0" cy="950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A4CFA965-B093-14D1-9DD5-41A77B704B19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838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A8C0-EA35-8947-C384-ABC56BA4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CCD0A-37B2-C645-D0A9-BD10FC11989F}"/>
              </a:ext>
            </a:extLst>
          </p:cNvPr>
          <p:cNvSpPr txBox="1"/>
          <p:nvPr/>
        </p:nvSpPr>
        <p:spPr>
          <a:xfrm>
            <a:off x="587230" y="-145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PDD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순서도 세부 사항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43F01D-7C69-97FA-FA7B-C78AA2BCE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91934"/>
              </p:ext>
            </p:extLst>
          </p:nvPr>
        </p:nvGraphicFramePr>
        <p:xfrm>
          <a:off x="655098" y="650791"/>
          <a:ext cx="10740499" cy="5222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738">
                  <a:extLst>
                    <a:ext uri="{9D8B030D-6E8A-4147-A177-3AD203B41FA5}">
                      <a16:colId xmlns:a16="http://schemas.microsoft.com/office/drawing/2014/main" val="2949329046"/>
                    </a:ext>
                  </a:extLst>
                </a:gridCol>
                <a:gridCol w="1958737">
                  <a:extLst>
                    <a:ext uri="{9D8B030D-6E8A-4147-A177-3AD203B41FA5}">
                      <a16:colId xmlns:a16="http://schemas.microsoft.com/office/drawing/2014/main" val="4175160694"/>
                    </a:ext>
                  </a:extLst>
                </a:gridCol>
                <a:gridCol w="7092779">
                  <a:extLst>
                    <a:ext uri="{9D8B030D-6E8A-4147-A177-3AD203B41FA5}">
                      <a16:colId xmlns:a16="http://schemas.microsoft.com/office/drawing/2014/main" val="1017136227"/>
                    </a:ext>
                  </a:extLst>
                </a:gridCol>
                <a:gridCol w="1304245">
                  <a:extLst>
                    <a:ext uri="{9D8B030D-6E8A-4147-A177-3AD203B41FA5}">
                      <a16:colId xmlns:a16="http://schemas.microsoft.com/office/drawing/2014/main" val="845590638"/>
                    </a:ext>
                  </a:extLst>
                </a:gridCol>
              </a:tblGrid>
              <a:tr h="6161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Activity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세부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시스템</a:t>
                      </a:r>
                    </a:p>
                  </a:txBody>
                  <a:tcPr marL="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059156"/>
                  </a:ext>
                </a:extLst>
              </a:tr>
              <a:tr h="386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폴더 및 파일 생성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저장 경로 및 작업 파일 생성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391235"/>
                  </a:ext>
                </a:extLst>
              </a:tr>
              <a:tr h="386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검색 요소 입력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검색할 회사 명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검색할 기간 입력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846909"/>
                  </a:ext>
                </a:extLst>
              </a:tr>
              <a:tr h="386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사이트 접속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다나와자동차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사이트 접속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Edge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다운로드 설정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Edge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121662"/>
                  </a:ext>
                </a:extLst>
              </a:tr>
              <a:tr h="386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조회조건 검색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입력된 검색 요소로 검색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Edge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904320"/>
                  </a:ext>
                </a:extLst>
              </a:tr>
              <a:tr h="386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이미지 추출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그래프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도표 이미지 추출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Edge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43682"/>
                  </a:ext>
                </a:extLst>
              </a:tr>
              <a:tr h="386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추출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 데이터 추출 및 정제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Edge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70371"/>
                  </a:ext>
                </a:extLst>
              </a:tr>
              <a:tr h="386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데이터 입력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추출 이미지 및 데이터 입력 후 제목 및 서식 변경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Excel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646162"/>
                  </a:ext>
                </a:extLst>
              </a:tr>
              <a:tr h="386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엑셀 저장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회사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기간을 포함한 제목으로 저장한 뒤 엑셀 종료 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Excel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76863"/>
                  </a:ext>
                </a:extLst>
              </a:tr>
              <a:tr h="386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사이트 복귀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 회사 검색을 위한 사이트 복귀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Edge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17703"/>
                  </a:ext>
                </a:extLst>
              </a:tr>
              <a:tr h="386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조건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브랜드 검색 여부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브랜드의 검색이 완료되었을 시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 항목으로 이동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그렇지 않을 시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번으로 돌아가 반복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56426"/>
                  </a:ext>
                </a:extLst>
              </a:tr>
              <a:tr h="386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Edge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종료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회사 엑셀 작성 완료 시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Edge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종료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Edge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330508"/>
                  </a:ext>
                </a:extLst>
              </a:tr>
              <a:tr h="350748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**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엑셀파일 저장 경로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C:\RPA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\(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)\output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94915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89EDCF7-0C39-FBCA-98C7-FE1CC55FCF66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21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DC9E4-CF23-E5B2-AD6A-D742F8767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3C2309-E3E7-EBED-B452-089D78028FE5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A8E22D06-F2D5-B648-9EB1-7B0174A1A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705550"/>
              </p:ext>
            </p:extLst>
          </p:nvPr>
        </p:nvGraphicFramePr>
        <p:xfrm>
          <a:off x="587230" y="587230"/>
          <a:ext cx="10989578" cy="55521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폴더 및 파일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Input.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Output, Temp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폴더 형성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양식파일 이름 설정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폴더 경로로 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Global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변수 설정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0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D360D59-A800-1639-6602-675B3A91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7D1F8C-93FB-DA78-5372-6F6A95C7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741530"/>
            <a:ext cx="7867650" cy="26479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9A3359F-1A5D-71FA-8BA4-58D0FA13A15D}"/>
              </a:ext>
            </a:extLst>
          </p:cNvPr>
          <p:cNvSpPr/>
          <p:nvPr/>
        </p:nvSpPr>
        <p:spPr>
          <a:xfrm>
            <a:off x="1372108" y="1844739"/>
            <a:ext cx="5085253" cy="12001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D0615D3-CB00-C4F0-2333-131C3F473BD8}"/>
              </a:ext>
            </a:extLst>
          </p:cNvPr>
          <p:cNvGrpSpPr/>
          <p:nvPr/>
        </p:nvGrpSpPr>
        <p:grpSpPr>
          <a:xfrm>
            <a:off x="1045754" y="1844739"/>
            <a:ext cx="248494" cy="276999"/>
            <a:chOff x="1061507" y="1889230"/>
            <a:chExt cx="248494" cy="27699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856EC32F-18EF-7BE8-93C9-49DB2037E301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B04AA1-7BB8-25CC-5009-DFADEE07D1E4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65DBB0D-1794-BB86-0E92-CF23F086B45F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3BD21B-5803-5727-757A-05B861F749D5}"/>
              </a:ext>
            </a:extLst>
          </p:cNvPr>
          <p:cNvSpPr/>
          <p:nvPr/>
        </p:nvSpPr>
        <p:spPr>
          <a:xfrm>
            <a:off x="1400198" y="3531449"/>
            <a:ext cx="3918348" cy="6677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405A986-1942-242A-5043-75F6D165BE33}"/>
              </a:ext>
            </a:extLst>
          </p:cNvPr>
          <p:cNvGrpSpPr/>
          <p:nvPr/>
        </p:nvGrpSpPr>
        <p:grpSpPr>
          <a:xfrm>
            <a:off x="1123614" y="2983647"/>
            <a:ext cx="248494" cy="276999"/>
            <a:chOff x="1061507" y="1889230"/>
            <a:chExt cx="248494" cy="276999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F394A54-975E-D05F-4452-329225243C62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3B2E80-8B88-5AE4-3010-A71290D63DCE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E8D37B-BB45-BCCD-ADBD-A119B03F3BF6}"/>
              </a:ext>
            </a:extLst>
          </p:cNvPr>
          <p:cNvSpPr/>
          <p:nvPr/>
        </p:nvSpPr>
        <p:spPr>
          <a:xfrm>
            <a:off x="1400198" y="3117987"/>
            <a:ext cx="3848513" cy="2942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22812D4-8DA3-D0A4-A57A-FC27BCC282D4}"/>
              </a:ext>
            </a:extLst>
          </p:cNvPr>
          <p:cNvGrpSpPr/>
          <p:nvPr/>
        </p:nvGrpSpPr>
        <p:grpSpPr>
          <a:xfrm>
            <a:off x="1093007" y="3429000"/>
            <a:ext cx="248494" cy="276999"/>
            <a:chOff x="1061507" y="1889230"/>
            <a:chExt cx="248494" cy="276999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79913C4-38B2-7FA6-D367-AA09206FF0F0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D2D282-D209-31D9-8124-7E9BF4569EC6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FF0000"/>
                  </a:solidFill>
                </a:rPr>
                <a:t>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357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5678-70CF-61DA-BC95-90FA89F6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A197DE-676B-F5BD-7981-55B1463856D8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18F9344A-7527-7C01-85DA-2499C4FDD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674809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검색 요소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Inputbox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이용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검색하려는 회사명 입력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Inputbox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이용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검색하려는 기간 입력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회사명 입력란을 공란으로 남길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자동으로 명시된 항목만을 검색 리스트로 편성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기간 입력란을 공란으로 남길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자동으로 현재 날짜를 통해 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년 전을 기간으로 편성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기간과 회사명에 대한 </a:t>
                      </a:r>
                      <a:r>
                        <a:rPr lang="en-US" altLang="ko-KR" sz="900" dirty="0"/>
                        <a:t>global </a:t>
                      </a:r>
                      <a:r>
                        <a:rPr lang="ko-KR" altLang="en-US" sz="900" dirty="0"/>
                        <a:t>변수 설정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388BC616-4494-4277-BCEC-D0D6F92A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AC9FDE8-3464-2CD3-2F6B-2EB6C12DF53C}"/>
              </a:ext>
            </a:extLst>
          </p:cNvPr>
          <p:cNvGrpSpPr/>
          <p:nvPr/>
        </p:nvGrpSpPr>
        <p:grpSpPr>
          <a:xfrm>
            <a:off x="615192" y="1661113"/>
            <a:ext cx="248494" cy="276999"/>
            <a:chOff x="1061507" y="1889230"/>
            <a:chExt cx="248494" cy="27699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D168978-438B-CBD6-42D0-F40EFCECF0B1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6CA55D2-8012-1D5C-DDA8-E78E2033887B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3B4CBA-82A1-F5F9-8693-DC5783268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92" y="1976437"/>
            <a:ext cx="3829050" cy="290512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90C0B2D-39A6-2D65-72C3-2F34C89A534E}"/>
              </a:ext>
            </a:extLst>
          </p:cNvPr>
          <p:cNvSpPr/>
          <p:nvPr/>
        </p:nvSpPr>
        <p:spPr>
          <a:xfrm>
            <a:off x="615192" y="1995854"/>
            <a:ext cx="3829050" cy="29051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ABF0A7-C785-EAA7-A969-7E28DD91D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861" y="1995854"/>
            <a:ext cx="3819525" cy="292417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5709E4-69F1-8D31-38F9-A2FB4E0B0425}"/>
              </a:ext>
            </a:extLst>
          </p:cNvPr>
          <p:cNvSpPr/>
          <p:nvPr/>
        </p:nvSpPr>
        <p:spPr>
          <a:xfrm>
            <a:off x="4535860" y="1995854"/>
            <a:ext cx="3819525" cy="29051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DFE607E-DA97-16D6-7A48-F110B47A49DC}"/>
              </a:ext>
            </a:extLst>
          </p:cNvPr>
          <p:cNvGrpSpPr/>
          <p:nvPr/>
        </p:nvGrpSpPr>
        <p:grpSpPr>
          <a:xfrm>
            <a:off x="4444242" y="1650938"/>
            <a:ext cx="248494" cy="276999"/>
            <a:chOff x="1061507" y="1889230"/>
            <a:chExt cx="248494" cy="276999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2F9E8FA-D9B6-B900-DA2D-98E0C65CF8E9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9E95CFC-F6C8-C958-DA1D-E54A75306FA1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D8A67A7-765B-98CA-5924-48FDD474C4DF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67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D673-42C0-C661-8FC0-DF3CD777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F335D-BC0F-645A-5352-5D8BF43DA44A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6C174A22-F211-6A0B-F446-5BC7BFFEEC1C}"/>
              </a:ext>
            </a:extLst>
          </p:cNvPr>
          <p:cNvGraphicFramePr>
            <a:graphicFrameLocks noGrp="1"/>
          </p:cNvGraphicFramePr>
          <p:nvPr/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검색 요소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Inputbox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이용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검색하려는 회사명 입력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Inputbox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이용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검색하려는 기간 입력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공란으로 넘길 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현재 시점에서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년 전으로 이동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회사명 입력란을 공란으로 남길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자동으로 명시된 항목만을 검색 리스트로 편성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기간 입력란을 공란으로 남길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자동으로 현재 날짜를 통해 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년 전을 기간으로 편성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기간과 회사명에 대한 </a:t>
                      </a:r>
                      <a:r>
                        <a:rPr lang="en-US" altLang="ko-KR" sz="900" dirty="0"/>
                        <a:t>global </a:t>
                      </a:r>
                      <a:r>
                        <a:rPr lang="ko-KR" altLang="en-US" sz="900" dirty="0"/>
                        <a:t>변수 설정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F79E6FA5-03D4-B0F3-793B-20C4B155E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CEEFA43-7531-DFB0-B6F2-7B5162D4BC7F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35BF2A-C6F7-8584-EC1F-D9878A50F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93" y="1819275"/>
            <a:ext cx="771525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9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E740F-0D24-76B9-6A69-BCAC7C26E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148324-D984-5FAB-EF6F-E74A0FFDE8F5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18757672-D426-5545-D1E9-ED83CFDD8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925492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사이트 접속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https://auto.danawa.com/auto/?Work=record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‘https://auto.danawa.com/auto/?Work=record’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접속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설정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-&gt;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다운로드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-&gt;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다운로드하기 전에 각 파일을 저장할 위치 확인 활성화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9646218C-34D4-8C43-F9AE-A3DB2702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8</a:t>
            </a:fld>
            <a:endParaRPr lang="ko-KR" altLang="en-US" noProof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5B6844-4478-31D4-201F-17D0C42FA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6" y="1371691"/>
            <a:ext cx="4345579" cy="235088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00E72C1-0F10-68B8-3452-21642194B21B}"/>
              </a:ext>
            </a:extLst>
          </p:cNvPr>
          <p:cNvSpPr/>
          <p:nvPr/>
        </p:nvSpPr>
        <p:spPr>
          <a:xfrm>
            <a:off x="753036" y="1356298"/>
            <a:ext cx="4345579" cy="23662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5F6BAD3-AC8A-1F49-24DC-DEC68A898F72}"/>
              </a:ext>
            </a:extLst>
          </p:cNvPr>
          <p:cNvGrpSpPr/>
          <p:nvPr/>
        </p:nvGrpSpPr>
        <p:grpSpPr>
          <a:xfrm>
            <a:off x="628789" y="1079298"/>
            <a:ext cx="248494" cy="276999"/>
            <a:chOff x="1061507" y="1889230"/>
            <a:chExt cx="248494" cy="27699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1641DBC-D850-4D62-7A80-B19A4B66D0EF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DB7751-D914-D63F-45CC-A0EBBAE1472F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0" name="그림 9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96804F-85EC-55BD-18F8-F21F307A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662" y="3722577"/>
            <a:ext cx="4740675" cy="218360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ACABD4-0C39-29C9-FD86-57CF3D3E90D9}"/>
              </a:ext>
            </a:extLst>
          </p:cNvPr>
          <p:cNvSpPr/>
          <p:nvPr/>
        </p:nvSpPr>
        <p:spPr>
          <a:xfrm>
            <a:off x="8005482" y="4374776"/>
            <a:ext cx="231565" cy="2061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1D29A01-58DF-C287-459C-B4FB3B105B29}"/>
              </a:ext>
            </a:extLst>
          </p:cNvPr>
          <p:cNvGrpSpPr/>
          <p:nvPr/>
        </p:nvGrpSpPr>
        <p:grpSpPr>
          <a:xfrm>
            <a:off x="7527698" y="4200871"/>
            <a:ext cx="248494" cy="276999"/>
            <a:chOff x="1061507" y="1889230"/>
            <a:chExt cx="248494" cy="276999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59EDF93-64D4-B88E-7815-7313DD2673A8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2401F0A-5012-6BAF-27D8-C5ABCFC975AC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ED3F235-0811-C45C-459B-4356C7F345B0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547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3E674-368C-E9E0-B231-5B059B8B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F812C3-0CCF-2290-2B3A-6D7977CF6996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DE01B2F4-88D7-7D3C-7A43-4AFA57162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471218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조회조건 검색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https://auto.danawa.com/auto/?Work=record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넘겨받은 정보를 통해 회사명 선택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넘겨받은 정보를 통해 기간 선택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의 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this.i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를 이용하여 회사 명단 배열에서 현재 필요한 순번의 브랜드명 출력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6B60E48E-853F-887F-34CC-37BCC5E8B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9</a:t>
            </a:fld>
            <a:endParaRPr lang="ko-KR" altLang="en-US" noProof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9D1F19-FF55-4CAD-7DAB-A14E6FAA5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6" y="1371691"/>
            <a:ext cx="7788260" cy="421332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92EC109-00E3-9465-9BC1-9797E3293649}"/>
              </a:ext>
            </a:extLst>
          </p:cNvPr>
          <p:cNvSpPr/>
          <p:nvPr/>
        </p:nvSpPr>
        <p:spPr>
          <a:xfrm>
            <a:off x="2902477" y="3095326"/>
            <a:ext cx="4098958" cy="9746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A3D4A02-B349-252F-3FED-184916EE124A}"/>
              </a:ext>
            </a:extLst>
          </p:cNvPr>
          <p:cNvGrpSpPr/>
          <p:nvPr/>
        </p:nvGrpSpPr>
        <p:grpSpPr>
          <a:xfrm>
            <a:off x="2778230" y="2756134"/>
            <a:ext cx="248494" cy="276999"/>
            <a:chOff x="1061507" y="1889230"/>
            <a:chExt cx="248494" cy="27699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AA9732A3-A38E-7A4F-B130-1A7C8017B140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9B3C11-C72F-1D39-2EDE-C6EC2EC50980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870773-B697-9078-5972-739357A36B50}"/>
              </a:ext>
            </a:extLst>
          </p:cNvPr>
          <p:cNvSpPr/>
          <p:nvPr/>
        </p:nvSpPr>
        <p:spPr>
          <a:xfrm>
            <a:off x="3541059" y="4401670"/>
            <a:ext cx="753035" cy="1434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5AEE770-6367-0A72-023C-7A7E5D332CB5}"/>
              </a:ext>
            </a:extLst>
          </p:cNvPr>
          <p:cNvGrpSpPr/>
          <p:nvPr/>
        </p:nvGrpSpPr>
        <p:grpSpPr>
          <a:xfrm>
            <a:off x="3209662" y="4334887"/>
            <a:ext cx="248494" cy="276999"/>
            <a:chOff x="1061507" y="1889230"/>
            <a:chExt cx="248494" cy="276999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1387F50-3E04-D944-609F-E9B7C4F3E5A0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A4B6F1-91E2-2C24-D5C0-89BCA5B291D3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F5B9B42-A780-B1A1-38E8-DA5F050162DE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246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FC6B-5F8E-CA12-0337-8A132AC6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0D485E-3BE2-0A0A-E5AA-1D52F0DB3DD7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345F242F-2703-D9F4-86D1-34A551FA9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293026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 추출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https://auto.danawa.com/auto/?Work=record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Edge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개발자 도구를 이용해 그래프 이미지 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xpath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 특정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폴더에 회사명 조회기간 그래프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png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로 저장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동일한 방식으로 도표 이미지 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xpath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 특정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폴더에 회사명 조회기간 누적판매량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png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로 저장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90379480-BFF7-6646-B84B-511896DE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pic>
        <p:nvPicPr>
          <p:cNvPr id="5" name="그림 4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9C0FCA-CBA0-A9BA-B448-EE9C5F2C5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94" y="1322751"/>
            <a:ext cx="4183945" cy="208532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7F2966-1AAA-9E27-6F13-66CB6CA7E699}"/>
              </a:ext>
            </a:extLst>
          </p:cNvPr>
          <p:cNvSpPr/>
          <p:nvPr/>
        </p:nvSpPr>
        <p:spPr>
          <a:xfrm>
            <a:off x="1893916" y="2083313"/>
            <a:ext cx="1584575" cy="5115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7430A67-482C-B66F-2E44-297087334790}"/>
              </a:ext>
            </a:extLst>
          </p:cNvPr>
          <p:cNvGrpSpPr/>
          <p:nvPr/>
        </p:nvGrpSpPr>
        <p:grpSpPr>
          <a:xfrm>
            <a:off x="1645422" y="1806314"/>
            <a:ext cx="248494" cy="276999"/>
            <a:chOff x="1061507" y="1889230"/>
            <a:chExt cx="248494" cy="27699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4C29F6E7-B829-7060-9412-33E7AB0D81EC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D955BC-E0D4-4C2E-5168-E6B249D6B55E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0" name="그림 9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E9D3D4-92C2-3629-075E-440249DF7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275" y="1322751"/>
            <a:ext cx="3583085" cy="20209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CFFA45-126B-2BEE-1BB6-537237474C46}"/>
              </a:ext>
            </a:extLst>
          </p:cNvPr>
          <p:cNvSpPr/>
          <p:nvPr/>
        </p:nvSpPr>
        <p:spPr>
          <a:xfrm>
            <a:off x="5529262" y="2941348"/>
            <a:ext cx="3081338" cy="717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54B65B3-3036-BA11-55CC-0DA2C323707D}"/>
              </a:ext>
            </a:extLst>
          </p:cNvPr>
          <p:cNvGrpSpPr/>
          <p:nvPr/>
        </p:nvGrpSpPr>
        <p:grpSpPr>
          <a:xfrm>
            <a:off x="4372952" y="5460413"/>
            <a:ext cx="248494" cy="276999"/>
            <a:chOff x="1061507" y="1889230"/>
            <a:chExt cx="248494" cy="276999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CEB3A5D-2716-E3E4-B013-F0334B232971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B99EF2-87F1-7A72-C444-2D034D52BA19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917FAC2-18C8-359A-9078-201A449AD269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15BC2B-86B1-4557-45AA-3D6C6DE44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94" y="3849592"/>
            <a:ext cx="4183945" cy="2085324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90EB8E-F2D4-EEF7-92C7-ED01F28FD1CB}"/>
              </a:ext>
            </a:extLst>
          </p:cNvPr>
          <p:cNvSpPr/>
          <p:nvPr/>
        </p:nvSpPr>
        <p:spPr>
          <a:xfrm>
            <a:off x="1893916" y="5195116"/>
            <a:ext cx="1584575" cy="4232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E45723B-C38D-1715-70E6-513178EAE96E}"/>
              </a:ext>
            </a:extLst>
          </p:cNvPr>
          <p:cNvGrpSpPr/>
          <p:nvPr/>
        </p:nvGrpSpPr>
        <p:grpSpPr>
          <a:xfrm>
            <a:off x="1627766" y="4892254"/>
            <a:ext cx="248494" cy="276999"/>
            <a:chOff x="1061507" y="1889230"/>
            <a:chExt cx="248494" cy="276999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29D82B77-FA53-8139-C1F9-830FA63E3133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53A8081-92B9-70F1-A0C8-9077251B02EC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3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770CDB-C5EC-626C-B8B6-FF186A4179D3}"/>
              </a:ext>
            </a:extLst>
          </p:cNvPr>
          <p:cNvGrpSpPr/>
          <p:nvPr/>
        </p:nvGrpSpPr>
        <p:grpSpPr>
          <a:xfrm>
            <a:off x="5219050" y="2664349"/>
            <a:ext cx="248494" cy="276999"/>
            <a:chOff x="1061507" y="1889230"/>
            <a:chExt cx="248494" cy="276999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C5334D51-F2ED-53C9-0365-0C3C3568E48B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265815C-4FD0-8309-25F8-555FC33BF45B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7" name="그림 26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411EBC-5F0D-7F28-6E6F-C255DCC01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515" y="3723774"/>
            <a:ext cx="3583085" cy="2020936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859CA0-CBA5-C066-FD4D-CF08F3B9C8E4}"/>
              </a:ext>
            </a:extLst>
          </p:cNvPr>
          <p:cNvSpPr/>
          <p:nvPr/>
        </p:nvSpPr>
        <p:spPr>
          <a:xfrm>
            <a:off x="5505502" y="5342371"/>
            <a:ext cx="3081338" cy="717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6FAB779-38E7-1AE2-9DE5-2E201737BFBC}"/>
              </a:ext>
            </a:extLst>
          </p:cNvPr>
          <p:cNvGrpSpPr/>
          <p:nvPr/>
        </p:nvGrpSpPr>
        <p:grpSpPr>
          <a:xfrm>
            <a:off x="5201394" y="5084315"/>
            <a:ext cx="248494" cy="276999"/>
            <a:chOff x="1061507" y="1889230"/>
            <a:chExt cx="248494" cy="27699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776370BD-B242-18AF-4712-092492542E01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40A9DF9-669F-ADF4-6541-BE60636978E8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4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478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33EE8-80D0-DE3D-2D84-DE0E4A2A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8AE568-6EF1-6EFD-888A-62ADB7A5399E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6B23C128-F428-31CA-5425-E22EB43B7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555059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데이터 추출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https://auto.danawa.com/auto/?Work=record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Gettabledata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getlistdata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를 이용해 데이터 추출하여 정제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정제된 항목</a:t>
                      </a: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순위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모델명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판매량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점유율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전월대비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전년대비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1A7B2286-4381-232A-B63C-F6AF468C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11</a:t>
            </a:fld>
            <a:endParaRPr lang="ko-KR" altLang="en-US" noProof="0"/>
          </a:p>
        </p:txBody>
      </p:sp>
      <p:pic>
        <p:nvPicPr>
          <p:cNvPr id="5" name="그림 4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4AA30A-AD49-99AD-8851-C6F028A2B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92" y="1725826"/>
            <a:ext cx="8032700" cy="398469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273C143-FEC9-8413-9093-D1243AE31AF2}"/>
              </a:ext>
            </a:extLst>
          </p:cNvPr>
          <p:cNvSpPr/>
          <p:nvPr/>
        </p:nvSpPr>
        <p:spPr>
          <a:xfrm>
            <a:off x="2877671" y="2097741"/>
            <a:ext cx="3092822" cy="36127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10B5930-382D-3082-C625-A9996F3F6F8F}"/>
              </a:ext>
            </a:extLst>
          </p:cNvPr>
          <p:cNvGrpSpPr/>
          <p:nvPr/>
        </p:nvGrpSpPr>
        <p:grpSpPr>
          <a:xfrm>
            <a:off x="2490949" y="1959241"/>
            <a:ext cx="248494" cy="276999"/>
            <a:chOff x="1061507" y="1889230"/>
            <a:chExt cx="248494" cy="27699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E8F8ECB-623C-72AC-7B81-5581385E330C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AB7B53-2479-35F5-28B8-03A93A83796C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CA4E643-1AB7-1BF8-19AC-ECB0D686795E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208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B26AB-E8D4-B236-C696-CF90BE7C9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821C8B-BFE4-93B0-8C8A-17AFEBAFB70E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AB29EB5A-8A09-EB6C-E91B-14AF44B97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862600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데이터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Excel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회사명으로 된 시트 형성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회사명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기간 변수 활용하여 제목 형성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정제된 데이터 입력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엑셀 내 조건부 서식 기능 활용하여 서식 변경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폴더 내의 그래프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도표 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png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이미지 삽입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dirty="0"/>
                        <a:t>4</a:t>
                      </a:r>
                      <a:r>
                        <a:rPr lang="ko-KR" altLang="en-US" sz="900" dirty="0"/>
                        <a:t>번의 서식 변경 시 ▲은 적색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▼은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청색으로 텍스트 색 변경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D29E2D5E-C82E-D43C-214B-418ADC22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12</a:t>
            </a:fld>
            <a:endParaRPr lang="ko-KR" altLang="en-US" noProof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D271D84-9580-41AD-E159-06FE9798988B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그림 34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8B5705-176C-AA31-3656-5D22046C2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62" y="922790"/>
            <a:ext cx="7824598" cy="523732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65B7CD0-8722-AD3D-3180-045F26D2EA19}"/>
              </a:ext>
            </a:extLst>
          </p:cNvPr>
          <p:cNvSpPr/>
          <p:nvPr/>
        </p:nvSpPr>
        <p:spPr>
          <a:xfrm>
            <a:off x="1955941" y="950318"/>
            <a:ext cx="1532592" cy="2146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80E830B-CBCF-BCFC-E0CC-FCB336D471FA}"/>
              </a:ext>
            </a:extLst>
          </p:cNvPr>
          <p:cNvGrpSpPr/>
          <p:nvPr/>
        </p:nvGrpSpPr>
        <p:grpSpPr>
          <a:xfrm>
            <a:off x="1669781" y="705412"/>
            <a:ext cx="248494" cy="276999"/>
            <a:chOff x="1061507" y="1889230"/>
            <a:chExt cx="248494" cy="27699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DB6E2A6-BBD6-C871-6048-A8FA7FEC4583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CA0313-0AA5-8820-B90D-61E24E3BDF86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AB50E6-754A-9E9D-1AD9-1E35E2CA93C8}"/>
              </a:ext>
            </a:extLst>
          </p:cNvPr>
          <p:cNvSpPr/>
          <p:nvPr/>
        </p:nvSpPr>
        <p:spPr>
          <a:xfrm>
            <a:off x="645778" y="1120269"/>
            <a:ext cx="4082842" cy="46960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5322C8-6E0B-BDD7-FBDB-03EAB4DF0FDB}"/>
              </a:ext>
            </a:extLst>
          </p:cNvPr>
          <p:cNvSpPr/>
          <p:nvPr/>
        </p:nvSpPr>
        <p:spPr>
          <a:xfrm>
            <a:off x="4833524" y="1164941"/>
            <a:ext cx="2792761" cy="2616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E7AFCB-F586-8CEB-82EE-CCF6EF38EDB2}"/>
              </a:ext>
            </a:extLst>
          </p:cNvPr>
          <p:cNvGrpSpPr/>
          <p:nvPr/>
        </p:nvGrpSpPr>
        <p:grpSpPr>
          <a:xfrm>
            <a:off x="4745404" y="858662"/>
            <a:ext cx="248494" cy="276999"/>
            <a:chOff x="1061507" y="1889230"/>
            <a:chExt cx="248494" cy="276999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3FF11A8-CBEE-0193-9222-68F15C6AE952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BE755F-031B-531B-524C-558DF320E18A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3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EC907E-DAFD-7A37-B7FB-ACBABCE21381}"/>
              </a:ext>
            </a:extLst>
          </p:cNvPr>
          <p:cNvSpPr/>
          <p:nvPr/>
        </p:nvSpPr>
        <p:spPr>
          <a:xfrm>
            <a:off x="3610220" y="1130399"/>
            <a:ext cx="1118399" cy="46960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20A2E-CC5E-6D47-B4B4-67B63AE5261E}"/>
              </a:ext>
            </a:extLst>
          </p:cNvPr>
          <p:cNvGrpSpPr/>
          <p:nvPr/>
        </p:nvGrpSpPr>
        <p:grpSpPr>
          <a:xfrm>
            <a:off x="3256823" y="1402071"/>
            <a:ext cx="248494" cy="276999"/>
            <a:chOff x="1061507" y="1889230"/>
            <a:chExt cx="248494" cy="276999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6DFDABC-6E94-F384-1FF0-10AC0781C4E8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EC6A593-C7D8-16FF-8A68-BB12EEF3B2B7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4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6EF8DD4-F5A6-0B8C-7B89-C64BB199868B}"/>
              </a:ext>
            </a:extLst>
          </p:cNvPr>
          <p:cNvGrpSpPr/>
          <p:nvPr/>
        </p:nvGrpSpPr>
        <p:grpSpPr>
          <a:xfrm>
            <a:off x="4726058" y="3003449"/>
            <a:ext cx="248494" cy="276999"/>
            <a:chOff x="1061507" y="1889230"/>
            <a:chExt cx="248494" cy="276999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A996A5B-9320-0401-1BBA-083F34C160C0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E55B85B-22F9-3BB3-1B3C-FC5136BCBFD3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5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4657171-21FA-DF50-CF11-E5C48C59D673}"/>
              </a:ext>
            </a:extLst>
          </p:cNvPr>
          <p:cNvSpPr/>
          <p:nvPr/>
        </p:nvSpPr>
        <p:spPr>
          <a:xfrm>
            <a:off x="4850305" y="1762107"/>
            <a:ext cx="3435855" cy="9787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614991-B2CB-86D1-ECFB-7FC3ADB5D416}"/>
              </a:ext>
            </a:extLst>
          </p:cNvPr>
          <p:cNvSpPr/>
          <p:nvPr/>
        </p:nvSpPr>
        <p:spPr>
          <a:xfrm>
            <a:off x="4887735" y="3337089"/>
            <a:ext cx="3435855" cy="9049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B417F73-6AC8-1890-034D-BF319A2898DF}"/>
              </a:ext>
            </a:extLst>
          </p:cNvPr>
          <p:cNvGrpSpPr/>
          <p:nvPr/>
        </p:nvGrpSpPr>
        <p:grpSpPr>
          <a:xfrm>
            <a:off x="400023" y="853399"/>
            <a:ext cx="248494" cy="276999"/>
            <a:chOff x="1061507" y="1889230"/>
            <a:chExt cx="248494" cy="276999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82ECD99-9E82-3AF9-75A5-00381D8E9D1B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1A63B78-189D-5D34-D682-681F5080BD72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3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C5196C5-AB8E-E787-B55C-CA549D978A61}"/>
              </a:ext>
            </a:extLst>
          </p:cNvPr>
          <p:cNvGrpSpPr/>
          <p:nvPr/>
        </p:nvGrpSpPr>
        <p:grpSpPr>
          <a:xfrm>
            <a:off x="4717666" y="1443828"/>
            <a:ext cx="248494" cy="276999"/>
            <a:chOff x="1061507" y="1889230"/>
            <a:chExt cx="248494" cy="276999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03C2CE2A-A371-EFB6-A793-0892CA7257FA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338743C-A21A-6E6F-BB01-1B23A9C532EF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5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34A9D86-8600-3A69-392D-5849AFD030B1}"/>
              </a:ext>
            </a:extLst>
          </p:cNvPr>
          <p:cNvGrpSpPr/>
          <p:nvPr/>
        </p:nvGrpSpPr>
        <p:grpSpPr>
          <a:xfrm>
            <a:off x="976796" y="5831088"/>
            <a:ext cx="248494" cy="276999"/>
            <a:chOff x="1061507" y="1889230"/>
            <a:chExt cx="248494" cy="276999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4843231-E79C-2766-FFB1-90C575229AEC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C5242B9-B852-0096-B717-886665C6D62E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D97E5E-4D29-105C-4B7E-41CF97B7118D}"/>
              </a:ext>
            </a:extLst>
          </p:cNvPr>
          <p:cNvSpPr/>
          <p:nvPr/>
        </p:nvSpPr>
        <p:spPr>
          <a:xfrm flipH="1">
            <a:off x="1346975" y="5935210"/>
            <a:ext cx="322806" cy="2166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3199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559E8-F691-C88D-18BD-03E37A01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298A8A-0E88-32AA-4742-211CB8A94FBA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51EF45AE-A144-4647-0A53-0B973D4F3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413156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엑셀 저장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Excel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원본 시트 삭제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Output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폴더 내에 회사명 조회기간 판매실적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.xlsx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로 저장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엑셀 종료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저장 시 </a:t>
                      </a:r>
                      <a:r>
                        <a:rPr lang="en-US" altLang="ko-KR" sz="900" dirty="0"/>
                        <a:t>Output</a:t>
                      </a:r>
                      <a:r>
                        <a:rPr lang="ko-KR" altLang="en-US" sz="900" dirty="0"/>
                        <a:t>폴더 경로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회사명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/>
                        <a:t>조회기간 변수 참조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2C56FF3-3C85-9C96-EBBC-727D4BF1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16412F-80CE-697D-E325-29999D2FF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784" y="2929764"/>
            <a:ext cx="6872288" cy="15321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FD4A6C4-F8AB-056B-42B2-BF62296A4712}"/>
              </a:ext>
            </a:extLst>
          </p:cNvPr>
          <p:cNvSpPr/>
          <p:nvPr/>
        </p:nvSpPr>
        <p:spPr>
          <a:xfrm>
            <a:off x="1900044" y="3078607"/>
            <a:ext cx="1497579" cy="7493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88EC11-B247-260C-77F3-443910DC0E85}"/>
              </a:ext>
            </a:extLst>
          </p:cNvPr>
          <p:cNvSpPr/>
          <p:nvPr/>
        </p:nvSpPr>
        <p:spPr>
          <a:xfrm>
            <a:off x="3574377" y="3054338"/>
            <a:ext cx="1497579" cy="7493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4B50BD-0212-2AA5-E62C-869735FAEECD}"/>
              </a:ext>
            </a:extLst>
          </p:cNvPr>
          <p:cNvSpPr/>
          <p:nvPr/>
        </p:nvSpPr>
        <p:spPr>
          <a:xfrm>
            <a:off x="5248711" y="3054339"/>
            <a:ext cx="1497579" cy="7493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5EF20FF-275A-AEA3-C156-2AE329F95803}"/>
              </a:ext>
            </a:extLst>
          </p:cNvPr>
          <p:cNvGrpSpPr/>
          <p:nvPr/>
        </p:nvGrpSpPr>
        <p:grpSpPr>
          <a:xfrm>
            <a:off x="3450130" y="2683908"/>
            <a:ext cx="248494" cy="276999"/>
            <a:chOff x="1061507" y="1889230"/>
            <a:chExt cx="248494" cy="276999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79F26A67-286A-21BB-8E0D-5D81863ED351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F57BDC-C430-2FC8-4CBD-AD53A687B5A3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E560B07-2E96-41EB-876B-7400FA0FDA0B}"/>
              </a:ext>
            </a:extLst>
          </p:cNvPr>
          <p:cNvGrpSpPr/>
          <p:nvPr/>
        </p:nvGrpSpPr>
        <p:grpSpPr>
          <a:xfrm>
            <a:off x="5000217" y="2715051"/>
            <a:ext cx="248494" cy="276999"/>
            <a:chOff x="1061507" y="1889230"/>
            <a:chExt cx="248494" cy="276999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BCC1C54-A760-6120-3772-E02BF2C34C48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F29762-ED3F-9394-94FB-B954906F5710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3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72E59A6-965C-4C50-4B9A-4632A0595800}"/>
              </a:ext>
            </a:extLst>
          </p:cNvPr>
          <p:cNvGrpSpPr/>
          <p:nvPr/>
        </p:nvGrpSpPr>
        <p:grpSpPr>
          <a:xfrm>
            <a:off x="1645939" y="2678680"/>
            <a:ext cx="248494" cy="276999"/>
            <a:chOff x="1061507" y="1889230"/>
            <a:chExt cx="248494" cy="276999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9B6753D-3CD5-3449-926F-0636E14442A7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853D55-BA50-FC6F-0D16-B82E4F5A8A17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15ED2CE-93B8-57C2-D734-44DCD1FF4DAD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968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A640-16FC-7373-67D7-3A651FBD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573138-BD49-CDFA-AB21-08A035F4AE1C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9ECD07ED-87D2-0593-AE2D-B1C4D1C40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303259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사이트 복귀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https://auto.danawa.com/auto/?Work=record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검색 이전 화면으로 이동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조회조건 검색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단계로 되돌아간 후 반복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모든 브랜드를 검색 완료했을 시 </a:t>
                      </a:r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번을 생략하고 정리 단계로 이동</a:t>
                      </a:r>
                      <a:r>
                        <a:rPr lang="en-US" altLang="ko-KR" sz="900" dirty="0"/>
                        <a:t>.</a:t>
                      </a:r>
                      <a:r>
                        <a:rPr lang="ko-KR" altLang="en-US" sz="900" dirty="0"/>
                        <a:t> 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7EDCE14A-9F93-D992-DAFD-B0A52ABB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14</a:t>
            </a:fld>
            <a:endParaRPr lang="ko-KR" altLang="en-US" noProof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E1FC37-F6AD-5148-561D-3B01E01B8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92" y="1521117"/>
            <a:ext cx="8052640" cy="428652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549CC8E-1416-FA96-DD56-203701F18EBF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148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E44CF-BF1F-B936-8E33-A86E2168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B90CD4-1357-E5C4-1C5A-86B3150AC3BF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CA32BA67-2719-8857-E1D2-A387201AE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698105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Edge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 종료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https://auto.danawa.com/auto/?Work=record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배열의 모든 회사명이 들어갔을 시 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Edge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종료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모든 회사명 사용 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-&gt; for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문의 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this.i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를 회사명 배열의 길이와 비교하여 판별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6ED484E-5066-57E5-688B-AE144961AF22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텍스트, 스크린샷, 원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75B015-1105-FC08-BF85-34980CC11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519" y="2181863"/>
            <a:ext cx="4333875" cy="14573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92EAB6-ABE9-889F-2B54-93223ED734C5}"/>
              </a:ext>
            </a:extLst>
          </p:cNvPr>
          <p:cNvSpPr/>
          <p:nvPr/>
        </p:nvSpPr>
        <p:spPr>
          <a:xfrm>
            <a:off x="2691896" y="2443290"/>
            <a:ext cx="1917811" cy="8937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714DDF1-A934-C2E5-B4F0-1EEE46209FBA}"/>
              </a:ext>
            </a:extLst>
          </p:cNvPr>
          <p:cNvGrpSpPr/>
          <p:nvPr/>
        </p:nvGrpSpPr>
        <p:grpSpPr>
          <a:xfrm>
            <a:off x="2437791" y="2043363"/>
            <a:ext cx="248494" cy="276999"/>
            <a:chOff x="1061507" y="1889230"/>
            <a:chExt cx="248494" cy="276999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6A2DEB7-7BC2-04D8-C85A-02ED4D6CB83B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7DEA99-B24D-604E-B404-F92108D68F94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62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1067</Words>
  <Application>Microsoft Office PowerPoint</Application>
  <PresentationFormat>와이드스크린</PresentationFormat>
  <Paragraphs>277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PC-04</dc:creator>
  <cp:lastModifiedBy>동혁 이</cp:lastModifiedBy>
  <cp:revision>8</cp:revision>
  <dcterms:created xsi:type="dcterms:W3CDTF">2026-01-05T02:04:39Z</dcterms:created>
  <dcterms:modified xsi:type="dcterms:W3CDTF">2026-01-05T14:19:25Z</dcterms:modified>
</cp:coreProperties>
</file>